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5" r:id="rId1"/>
  </p:sldMasterIdLst>
  <p:notesMasterIdLst>
    <p:notesMasterId r:id="rId33"/>
  </p:notesMasterIdLst>
  <p:sldIdLst>
    <p:sldId id="1362" r:id="rId2"/>
    <p:sldId id="1428" r:id="rId3"/>
    <p:sldId id="1429" r:id="rId4"/>
    <p:sldId id="1430" r:id="rId5"/>
    <p:sldId id="1432" r:id="rId6"/>
    <p:sldId id="1434" r:id="rId7"/>
    <p:sldId id="1366" r:id="rId8"/>
    <p:sldId id="1369" r:id="rId9"/>
    <p:sldId id="1435" r:id="rId10"/>
    <p:sldId id="1437" r:id="rId11"/>
    <p:sldId id="1410" r:id="rId12"/>
    <p:sldId id="304" r:id="rId13"/>
    <p:sldId id="1439" r:id="rId14"/>
    <p:sldId id="1407" r:id="rId15"/>
    <p:sldId id="1440" r:id="rId16"/>
    <p:sldId id="1441" r:id="rId17"/>
    <p:sldId id="1442" r:id="rId18"/>
    <p:sldId id="1443" r:id="rId19"/>
    <p:sldId id="1419" r:id="rId20"/>
    <p:sldId id="1420" r:id="rId21"/>
    <p:sldId id="1444" r:id="rId22"/>
    <p:sldId id="1426" r:id="rId23"/>
    <p:sldId id="1446" r:id="rId24"/>
    <p:sldId id="1449" r:id="rId25"/>
    <p:sldId id="1447" r:id="rId26"/>
    <p:sldId id="1387" r:id="rId27"/>
    <p:sldId id="1448" r:id="rId28"/>
    <p:sldId id="1450" r:id="rId29"/>
    <p:sldId id="1451" r:id="rId30"/>
    <p:sldId id="1452" r:id="rId31"/>
    <p:sldId id="1454" r:id="rId32"/>
  </p:sldIdLst>
  <p:sldSz cx="12858750" cy="7232650"/>
  <p:notesSz cx="6858000" cy="9144000"/>
  <p:custDataLst>
    <p:tags r:id="rId3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39763" indent="-18256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638" indent="-5540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" userDrawn="1">
          <p15:clr>
            <a:srgbClr val="A4A3A4"/>
          </p15:clr>
        </p15:guide>
        <p15:guide id="2" pos="3959" userDrawn="1">
          <p15:clr>
            <a:srgbClr val="A4A3A4"/>
          </p15:clr>
        </p15:guide>
        <p15:guide id="3" pos="557" userDrawn="1">
          <p15:clr>
            <a:srgbClr val="A4A3A4"/>
          </p15:clr>
        </p15:guide>
        <p15:guide id="5" orient="horz" pos="4183" userDrawn="1">
          <p15:clr>
            <a:srgbClr val="A4A3A4"/>
          </p15:clr>
        </p15:guide>
        <p15:guide id="6" pos="7497" userDrawn="1">
          <p15:clr>
            <a:srgbClr val="A4A3A4"/>
          </p15:clr>
        </p15:guide>
        <p15:guide id="7" pos="6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9966"/>
    <a:srgbClr val="92D050"/>
    <a:srgbClr val="108036"/>
    <a:srgbClr val="8CC94C"/>
    <a:srgbClr val="108136"/>
    <a:srgbClr val="568D11"/>
    <a:srgbClr val="FF6907"/>
    <a:srgbClr val="042E60"/>
    <a:srgbClr val="0170C1"/>
    <a:srgbClr val="3484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85" autoAdjust="0"/>
    <p:restoredTop sz="93345" autoAdjust="0"/>
  </p:normalViewPr>
  <p:slideViewPr>
    <p:cSldViewPr>
      <p:cViewPr varScale="1">
        <p:scale>
          <a:sx n="117" d="100"/>
          <a:sy n="117" d="100"/>
        </p:scale>
        <p:origin x="619" y="91"/>
      </p:cViewPr>
      <p:guideLst>
        <p:guide orient="horz" pos="328"/>
        <p:guide pos="3959"/>
        <p:guide pos="557"/>
        <p:guide orient="horz" pos="4183"/>
        <p:guide pos="7497"/>
        <p:guide pos="6908"/>
      </p:guideLst>
    </p:cSldViewPr>
  </p:slideViewPr>
  <p:outlineViewPr>
    <p:cViewPr>
      <p:scale>
        <a:sx n="100" d="100"/>
        <a:sy n="100" d="100"/>
      </p:scale>
      <p:origin x="0" y="-11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  <a:pPr>
                <a:defRPr/>
              </a:pPr>
              <a:t>2026/5/12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5404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493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92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692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788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7009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3868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0862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1500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8699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7604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0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8857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98745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8838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83122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91609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22606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7294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75219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38545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058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0800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87530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6530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11994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99315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97552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56814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05256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376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149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96117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37519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138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84354" y="6704023"/>
            <a:ext cx="2892783" cy="384175"/>
          </a:xfrm>
          <a:prstGeom prst="rect">
            <a:avLst/>
          </a:prstGeom>
        </p:spPr>
        <p:txBody>
          <a:bodyPr/>
          <a:lstStyle/>
          <a:p>
            <a:fld id="{3BED4874-415F-4462-8CBD-90FA9588F106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259789" y="6704023"/>
            <a:ext cx="4339173" cy="38417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081627" y="6704023"/>
            <a:ext cx="2892783" cy="384175"/>
          </a:xfrm>
          <a:prstGeom prst="rect">
            <a:avLst/>
          </a:prstGeom>
        </p:spPr>
        <p:txBody>
          <a:bodyPr/>
          <a:lstStyle/>
          <a:p>
            <a:fld id="{8C92ADDF-ABC6-4EEC-846D-A1AE2D4106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153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565" y="315457"/>
            <a:ext cx="11614357" cy="1073650"/>
          </a:xfrm>
        </p:spPr>
        <p:txBody>
          <a:bodyPr>
            <a:normAutofit/>
          </a:bodyPr>
          <a:lstStyle>
            <a:lvl1pPr algn="r">
              <a:defRPr sz="3797" baseline="0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098" y="1990923"/>
            <a:ext cx="11596036" cy="4728439"/>
          </a:xfrm>
        </p:spPr>
        <p:txBody>
          <a:bodyPr/>
          <a:lstStyle>
            <a:lvl1pPr algn="l">
              <a:defRPr sz="2953">
                <a:solidFill>
                  <a:srgbClr val="002060"/>
                </a:solidFill>
              </a:defRPr>
            </a:lvl1pPr>
            <a:lvl2pPr algn="l">
              <a:defRPr>
                <a:solidFill>
                  <a:srgbClr val="002060"/>
                </a:solidFill>
              </a:defRPr>
            </a:lvl2pPr>
            <a:lvl3pPr algn="l">
              <a:defRPr>
                <a:solidFill>
                  <a:srgbClr val="002060"/>
                </a:solidFill>
              </a:defRPr>
            </a:lvl3pPr>
            <a:lvl4pPr algn="l">
              <a:defRPr>
                <a:solidFill>
                  <a:srgbClr val="002060"/>
                </a:solidFill>
              </a:defRPr>
            </a:lvl4pPr>
            <a:lvl5pPr algn="l"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E8ADE-1125-4058-89ED-25349CAB49B3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FCA7D-19A9-4332-9444-54AB3F00BB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85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721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97" r:id="rId2"/>
  </p:sldLayoutIdLst>
  <p:txStyles>
    <p:titleStyle>
      <a:lvl1pPr algn="l" defTabSz="91447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20" indent="-228620" algn="l" defTabSz="91447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58" indent="-228620" algn="l" defTabSz="91447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94" indent="-228620" algn="l" defTabSz="91447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333" indent="-228620" algn="l" defTabSz="91447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71" indent="-228620" algn="l" defTabSz="91447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809" indent="-228620" algn="l" defTabSz="91447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48" indent="-228620" algn="l" defTabSz="91447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286" indent="-228620" algn="l" defTabSz="91447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524" indent="-228620" algn="l" defTabSz="91447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39" algn="l" defTabSz="9144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76" algn="l" defTabSz="9144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14" algn="l" defTabSz="9144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53" algn="l" defTabSz="9144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91" algn="l" defTabSz="9144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29" algn="l" defTabSz="9144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667" algn="l" defTabSz="9144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906" algn="l" defTabSz="9144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71894"/>
            <a:ext cx="12881849" cy="7079806"/>
            <a:chOff x="0" y="158847"/>
            <a:chExt cx="12881849" cy="7079806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90569"/>
              <a:ext cx="356188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1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815678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</a:rPr>
                <a:t>Income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272691" y="974946"/>
            <a:ext cx="12277364" cy="6130732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 Income gap</a:t>
            </a:r>
          </a:p>
          <a:p>
            <a:pPr marL="432000" indent="-457200" fontAlgn="auto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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There are still </a:t>
            </a:r>
            <a:r>
              <a:rPr lang="en-US" altLang="zh-CN" sz="36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wide gaps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income distribution between urban and rural areas and between regions. 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[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二十大报告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] </a:t>
            </a:r>
          </a:p>
          <a:p>
            <a:pPr marL="324000" indent="-324000" fontAlgn="auto">
              <a:lnSpc>
                <a:spcPct val="100000"/>
              </a:lnSpc>
              <a:spcAft>
                <a:spcPts val="0"/>
              </a:spcAft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en-US" altLang="zh-CN" sz="3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Objectives of the 15</a:t>
            </a:r>
            <a:r>
              <a:rPr lang="en-US" altLang="zh-CN" sz="3600" i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th</a:t>
            </a:r>
            <a:r>
              <a:rPr lang="en-US" altLang="zh-CN" sz="3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FYP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 </a:t>
            </a:r>
          </a:p>
          <a:p>
            <a:pPr marL="324000" indent="-457200" fontAlgn="auto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Personal incomes should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increase in step with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economic  growth, and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remuneration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should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rise in tandem with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labor productivity increases. </a:t>
            </a:r>
          </a:p>
          <a:p>
            <a:pPr marL="432000" indent="-457200" fontAlgn="auto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</a:t>
            </a:r>
            <a:r>
              <a:rPr lang="en-US" altLang="zh-C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居民收入增长和经济增长同步、劳动报酬提高和劳动生产率提高同步</a:t>
            </a:r>
            <a:r>
              <a:rPr lang="en-US" altLang="zh-C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</a:t>
            </a:r>
          </a:p>
          <a:p>
            <a:pPr marL="324000" indent="-324000" fontAlgn="auto">
              <a:lnSpc>
                <a:spcPct val="100000"/>
              </a:lnSpc>
              <a:spcAft>
                <a:spcPts val="0"/>
              </a:spcAft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en-US" altLang="zh-CN" sz="3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Major tasks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 Advancing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common prosperity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for all</a:t>
            </a:r>
          </a:p>
        </p:txBody>
      </p:sp>
    </p:spTree>
    <p:extLst>
      <p:ext uri="{BB962C8B-B14F-4D97-AF65-F5344CB8AC3E}">
        <p14:creationId xmlns:p14="http://schemas.microsoft.com/office/powerpoint/2010/main" val="2256845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71894"/>
            <a:ext cx="12881849" cy="7079806"/>
            <a:chOff x="0" y="158847"/>
            <a:chExt cx="12881849" cy="7079806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90569"/>
              <a:ext cx="356188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1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815678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</a:rPr>
                <a:t>Income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236687" y="974946"/>
            <a:ext cx="12457384" cy="6085809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4000" indent="-324000" fontAlgn="auto">
              <a:lnSpc>
                <a:spcPct val="100000"/>
              </a:lnSpc>
              <a:spcAft>
                <a:spcPts val="0"/>
              </a:spcAft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Improving the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income distribution system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</a:t>
            </a:r>
          </a:p>
          <a:p>
            <a:pPr marL="36000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(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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build an institutional framework under which </a:t>
            </a:r>
            <a:r>
              <a:rPr lang="en-US" altLang="zh-CN" sz="36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primary,  secondary, </a:t>
            </a:r>
            <a:r>
              <a:rPr lang="en-US" altLang="zh-CN" sz="3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altLang="zh-CN" sz="36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tertiary distribution</a:t>
            </a:r>
            <a:r>
              <a:rPr lang="en-US" altLang="zh-CN" sz="3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well coordinated and mutually complementary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altLang="zh-CN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 [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二十大报告</a:t>
            </a:r>
            <a:r>
              <a:rPr lang="en-US" altLang="zh-CN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]</a:t>
            </a:r>
            <a:endParaRPr lang="en-US" altLang="zh-C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构建初次分配、再分配、第三次分配协调配套的制度体系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</a:t>
            </a:r>
          </a:p>
          <a:p>
            <a:pPr marL="360000" indent="-457200" fontAlgn="auto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We should work to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raise the share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personal income in the distribution of national income and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 more weight to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work remuneration in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distribution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32000" indent="-457200" fontAlgn="auto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  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提高居民收入在国民收入分配中的比重，提高劳动报酬在初次分配中的比重。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)</a:t>
            </a:r>
            <a:endParaRPr lang="zh-CN" altLang="en-US" sz="32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909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71894"/>
            <a:ext cx="12881849" cy="7079806"/>
            <a:chOff x="0" y="158847"/>
            <a:chExt cx="12881849" cy="7079806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90569"/>
              <a:ext cx="356188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1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815678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</a:rPr>
                <a:t>Income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236687" y="974946"/>
            <a:ext cx="12457384" cy="6085809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We should leverage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channels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increase the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property income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both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urban and rural residents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promote further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redistribution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means of taxation, social security, and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transfer payments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32000" indent="-457200" fontAlgn="auto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  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多渠道增加城乡居民财产性收入。加强税收、社会保障、转移支付等再分配调节。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)</a:t>
            </a:r>
          </a:p>
          <a:p>
            <a:pPr marL="432000" indent="-457200" fontAlgn="auto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- an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income growth plan 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for urban and rural residents </a:t>
            </a:r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增收计划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</a:t>
            </a:r>
          </a:p>
          <a:p>
            <a:pPr marL="432000" indent="-4572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- to increase the earnings of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low-income people</a:t>
            </a:r>
          </a:p>
          <a:p>
            <a:pPr marL="432000" indent="-4572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- to enlarge the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middle-income group</a:t>
            </a:r>
          </a:p>
          <a:p>
            <a:pPr marL="432000" lvl="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- to form an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oval-shaped structure of distribution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zh-CN" altLang="en-US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橄榄型分配格局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4543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71894"/>
            <a:ext cx="12881849" cy="7079806"/>
            <a:chOff x="0" y="158847"/>
            <a:chExt cx="12881849" cy="7079806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90569"/>
              <a:ext cx="356188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1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815678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</a:rPr>
                <a:t>Income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236686" y="974946"/>
            <a:ext cx="12641113" cy="6085809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4000" indent="-324000" fontAlgn="auto">
              <a:lnSpc>
                <a:spcPct val="100000"/>
              </a:lnSpc>
              <a:spcAft>
                <a:spcPts val="0"/>
              </a:spcAft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To consolidate and expand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poverty alleviation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gains</a:t>
            </a:r>
          </a:p>
          <a:p>
            <a:pPr marL="0" indent="0" fontAlgn="auto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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To advance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special initiatives to boost consumption</a:t>
            </a:r>
          </a:p>
          <a:p>
            <a:pPr marL="46800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- </a:t>
            </a:r>
            <a:r>
              <a:rPr lang="en-US" altLang="zh-CN" sz="3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income growth plan for urban and rural residents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lvl="0" indent="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-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consumer goods trade-in programs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消费品以旧换新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</a:t>
            </a:r>
            <a:endParaRPr lang="en-US" altLang="zh-CN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000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- to energize consumption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off-line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in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lower-tier markets</a:t>
            </a:r>
          </a:p>
          <a:p>
            <a:pPr marL="36000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活跃线下消费，激发下沉市场消费活力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</a:t>
            </a:r>
          </a:p>
          <a:p>
            <a:pPr marL="36000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- to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unlock spending potential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areas such as culture, tourism…</a:t>
            </a:r>
          </a:p>
          <a:p>
            <a:pPr marL="0" lvl="0" indent="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释放消费潜力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</a:t>
            </a:r>
          </a:p>
          <a:p>
            <a:pPr marL="0" lvl="0" indent="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2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- to expand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inbound consumption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入境消费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</a:t>
            </a:r>
            <a:endParaRPr lang="en-US" altLang="zh-CN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04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71894"/>
            <a:ext cx="12881849" cy="7079806"/>
            <a:chOff x="0" y="158847"/>
            <a:chExt cx="12881849" cy="7079806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90569"/>
              <a:ext cx="429926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2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815678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</a:rPr>
                <a:t>Aging population/aging society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524719" y="974946"/>
            <a:ext cx="11881320" cy="6085809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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A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ging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/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ageing population</a:t>
            </a:r>
            <a:endParaRPr lang="en-US" altLang="zh-CN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a rapidly aging population in China </a:t>
            </a:r>
          </a:p>
          <a:p>
            <a:pPr mar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a shrinking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working-age population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(aged 16-59)</a:t>
            </a:r>
          </a:p>
          <a:p>
            <a:pPr mar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diminishing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demographic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population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dividend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bonus</a:t>
            </a:r>
            <a:endParaRPr lang="en-US" altLang="zh-C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121917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(</a:t>
            </a:r>
            <a:r>
              <a:rPr lang="en-US" altLang="zh-CN" sz="3600" i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Principle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) Proactive </a:t>
            </a:r>
            <a:r>
              <a:rPr lang="en-US" altLang="zh-CN" sz="3600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national strategy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in response to population aging</a:t>
            </a:r>
          </a:p>
          <a:p>
            <a:pPr marL="324000" indent="-324000" defTabSz="121917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Reform to gradually raise the </a:t>
            </a:r>
            <a:r>
              <a:rPr lang="en-US" altLang="zh-CN" sz="36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statutory retirement age</a:t>
            </a:r>
          </a:p>
          <a:p>
            <a:pPr marL="0" lvl="0" indent="0" defTabSz="121917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6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-</a:t>
            </a:r>
            <a:r>
              <a:rPr lang="en-US" altLang="zh-CN" sz="36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36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postponing retirement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/</a:t>
            </a:r>
            <a:r>
              <a:rPr lang="en-US" altLang="zh-CN" sz="36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retirement age</a:t>
            </a:r>
            <a:endParaRPr lang="en-US" altLang="zh-CN" sz="3600" b="1" dirty="0">
              <a:solidFill>
                <a:prstClr val="black"/>
              </a:solidFill>
              <a:latin typeface="Calibri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0" lvl="0" indent="0" defTabSz="121917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6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-</a:t>
            </a:r>
            <a:r>
              <a:rPr lang="en-US" altLang="zh-CN" sz="36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to </a:t>
            </a:r>
            <a:r>
              <a:rPr lang="en-US" altLang="zh-CN" sz="36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raise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/</a:t>
            </a:r>
            <a:r>
              <a:rPr lang="en-US" altLang="zh-CN" sz="36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postpone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/</a:t>
            </a:r>
            <a:r>
              <a:rPr lang="en-US" altLang="zh-CN" sz="36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extend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/</a:t>
            </a:r>
            <a:r>
              <a:rPr lang="en-US" altLang="zh-CN" sz="36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delay 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retirement age</a:t>
            </a:r>
            <a:endParaRPr lang="en-US" altLang="zh-C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32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71894"/>
            <a:ext cx="12881849" cy="7079806"/>
            <a:chOff x="0" y="158847"/>
            <a:chExt cx="12881849" cy="7079806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90569"/>
              <a:ext cx="429926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2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815678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</a:rPr>
                <a:t>Aging population/aging society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452711" y="974946"/>
            <a:ext cx="12313368" cy="6162453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4000" indent="-324000" fontAlgn="auto">
              <a:lnSpc>
                <a:spcPct val="100000"/>
              </a:lnSpc>
              <a:spcAft>
                <a:spcPts val="0"/>
              </a:spcAft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en-US" altLang="zh-CN" sz="3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Major tasks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 Building a childbirth-friendly society and improving population services</a:t>
            </a:r>
          </a:p>
          <a:p>
            <a:pPr marL="324000" indent="-324000" fontAlgn="auto">
              <a:lnSpc>
                <a:spcPct val="100000"/>
              </a:lnSpc>
              <a:spcAft>
                <a:spcPts val="0"/>
              </a:spcAft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To refine the policies and incentives for boosting birth rates and bring down the costs of childbirth, parenting, and education</a:t>
            </a:r>
          </a:p>
          <a:p>
            <a:pPr mar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housing support</a:t>
            </a:r>
          </a:p>
          <a:p>
            <a:pPr mar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childcare subsidies</a:t>
            </a:r>
          </a:p>
          <a:p>
            <a:pPr mar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personal income tax credits </a:t>
            </a:r>
          </a:p>
          <a:p>
            <a:pPr mar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the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maternity insurance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and parental leave systems</a:t>
            </a:r>
          </a:p>
          <a:p>
            <a:pPr mar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subsidized and public-interest childcare services 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补助</a:t>
            </a:r>
            <a:r>
              <a:rPr lang="en-US" altLang="zh-CN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/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普惠托育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</a:t>
            </a:r>
          </a:p>
          <a:p>
            <a:pPr mar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- one year of free preschool education</a:t>
            </a:r>
            <a:endParaRPr lang="en-US" altLang="zh-C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12988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71894"/>
            <a:ext cx="12881849" cy="7079806"/>
            <a:chOff x="0" y="158847"/>
            <a:chExt cx="12881849" cy="7079806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90569"/>
              <a:ext cx="429926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2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815678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</a:rPr>
                <a:t>Aging population/aging society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236687" y="879780"/>
            <a:ext cx="12646843" cy="6149254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4000" indent="-324000" defTabSz="91440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Elderly care</a:t>
            </a:r>
          </a:p>
          <a:p>
            <a:pPr marL="0" indent="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to develop the multi-tiered, multi-pillar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old-age insurance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system </a:t>
            </a:r>
          </a:p>
          <a:p>
            <a:pPr marL="36000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-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basic old-age benefits 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(for rural and non-working urban residents)</a:t>
            </a:r>
          </a:p>
          <a:p>
            <a:pPr marL="36000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 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pensions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(for retirees) </a:t>
            </a:r>
          </a:p>
          <a:p>
            <a:pPr marL="36000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     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pension insurance</a:t>
            </a:r>
          </a:p>
          <a:p>
            <a:pPr marL="0" indent="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to increase the supply of public-interest elderly care services</a:t>
            </a:r>
          </a:p>
          <a:p>
            <a:pPr marL="0" indent="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to improve elderly care service networks</a:t>
            </a:r>
          </a:p>
          <a:p>
            <a:pPr marL="0" indent="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insurance schemes for long-term care</a:t>
            </a:r>
          </a:p>
          <a:p>
            <a:pPr marL="324000" indent="-3240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To develop the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silver economy</a:t>
            </a:r>
            <a:endParaRPr lang="en-US" altLang="zh-C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53265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40173"/>
            <a:ext cx="12881849" cy="7111527"/>
            <a:chOff x="0" y="127126"/>
            <a:chExt cx="12881849" cy="7111527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27126"/>
              <a:ext cx="426720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3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974096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</a:rPr>
                <a:t>Unemployment 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524719" y="974946"/>
            <a:ext cx="12241360" cy="6085809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2000" lvl="0" indent="-45720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 Unemployment</a:t>
            </a:r>
            <a:endParaRPr lang="en-US" altLang="zh-CN" sz="3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432000" lvl="0" indent="-45720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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Our people face many difficulties in areas such as employment, education, medical services, childcare, elderly care, and housing. </a:t>
            </a:r>
            <a:r>
              <a:rPr lang="en-US" altLang="zh-CN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[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二十大报告</a:t>
            </a:r>
            <a:r>
              <a:rPr lang="en-US" altLang="zh-CN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]</a:t>
            </a:r>
            <a:endParaRPr lang="en-US" altLang="zh-C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432000" lvl="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 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It is more challenging for people to secure employment. </a:t>
            </a:r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[2026]</a:t>
            </a:r>
          </a:p>
          <a:p>
            <a:pPr marL="432000" lvl="0" indent="-45720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    …considerable pressure weighing on employment </a:t>
            </a:r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[15</a:t>
            </a:r>
            <a:r>
              <a:rPr lang="en-US" altLang="zh-CN" sz="32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th</a:t>
            </a:r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FYP]</a:t>
            </a:r>
          </a:p>
          <a:p>
            <a:pPr marL="432000" lvl="0" indent="-45720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  …both pressure on overall job creation and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structural  employment problems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就业总量压力和结构性矛盾并存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[2025]</a:t>
            </a:r>
            <a:endParaRPr lang="en-US" altLang="zh-C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0" lvl="0" indent="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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Statistics: </a:t>
            </a:r>
          </a:p>
          <a:p>
            <a:pPr marL="432000" lvl="0" indent="-45720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pitchFamily="34" charset="0"/>
                <a:sym typeface="Wingdings 2" panose="05020102010507070707" pitchFamily="18" charset="2"/>
              </a:rPr>
              <a:t> 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-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surveyed urban unemployment rate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: 5.2% in 2025 </a:t>
            </a:r>
          </a:p>
          <a:p>
            <a:pPr marL="432000" indent="-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pitchFamily="34" charset="0"/>
                <a:sym typeface="Wingdings 2" panose="05020102010507070707" pitchFamily="18" charset="2"/>
              </a:rPr>
              <a:t> 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- the number of college graduates </a:t>
            </a:r>
          </a:p>
        </p:txBody>
      </p:sp>
    </p:spTree>
    <p:extLst>
      <p:ext uri="{BB962C8B-B14F-4D97-AF65-F5344CB8AC3E}">
        <p14:creationId xmlns:p14="http://schemas.microsoft.com/office/powerpoint/2010/main" val="2265979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05287"/>
            <a:ext cx="12881849" cy="7146413"/>
            <a:chOff x="0" y="92240"/>
            <a:chExt cx="12881849" cy="7146413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92240"/>
              <a:ext cx="426720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3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815678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</a:rPr>
                <a:t>Unemployment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524719" y="876618"/>
            <a:ext cx="12169352" cy="6184138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4000" indent="-324000" defTabSz="121917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(</a:t>
            </a:r>
            <a:r>
              <a:rPr lang="en-US" altLang="zh-CN" sz="3600" i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Principle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) Employment is the most basic component of the people’s wellbeing.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就业是最基本的民生。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</a:t>
            </a:r>
            <a:r>
              <a:rPr lang="en-US" altLang="zh-CN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 [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二十大报告</a:t>
            </a:r>
            <a:r>
              <a:rPr lang="en-US" altLang="zh-CN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]</a:t>
            </a:r>
            <a:endParaRPr lang="en-US" altLang="zh-CN" sz="32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defTabSz="121917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 (</a:t>
            </a:r>
            <a:r>
              <a:rPr lang="en-US" altLang="zh-CN" sz="3600" i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Objectives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) Keeping employment stable</a:t>
            </a:r>
          </a:p>
          <a:p>
            <a:pPr defTabSz="121917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 (</a:t>
            </a:r>
            <a:r>
              <a:rPr lang="en-US" altLang="zh-CN" sz="3600" i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General policy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) the employment-first policy</a:t>
            </a:r>
          </a:p>
          <a:p>
            <a:pPr defTabSz="121917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 (</a:t>
            </a:r>
            <a:r>
              <a:rPr lang="en-US" altLang="zh-CN" sz="3600" i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Major tasks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) To promote high-quality full employment </a:t>
            </a:r>
          </a:p>
          <a:p>
            <a:pPr marL="0" lvl="0" indent="0" defTabSz="121917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 - </a:t>
            </a:r>
            <a:r>
              <a:rPr lang="en-US" altLang="zh-CN" sz="3600" b="1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unemployment insurance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 </a:t>
            </a:r>
            <a:r>
              <a:rPr lang="en-US" altLang="zh-CN" sz="3600" b="1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premium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 refunds 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稳岗返还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</a:t>
            </a:r>
            <a:endParaRPr lang="zh-CN" altLang="en-US" sz="3600" dirty="0">
              <a:solidFill>
                <a:prstClr val="black"/>
              </a:solidFill>
              <a:latin typeface="Calibri"/>
              <a:ea typeface="宋体" panose="02010600030101010101" pitchFamily="2" charset="-122"/>
              <a:sym typeface="Wingdings 2" panose="05020102010507070707" pitchFamily="18" charset="2"/>
            </a:endParaRPr>
          </a:p>
          <a:p>
            <a:pPr marL="360000" lvl="0" indent="-457200" defTabSz="121917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 - to support </a:t>
            </a:r>
            <a:r>
              <a:rPr lang="en-US" altLang="zh-CN" sz="36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labor-intensive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 </a:t>
            </a:r>
            <a:r>
              <a:rPr lang="en-US" altLang="zh-CN" sz="36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sectors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 and enterprises in keeping payrolls stable 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支持劳动密集型行业企业稳定岗位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</a:t>
            </a:r>
            <a:endParaRPr lang="zh-CN" altLang="en-US" sz="3600" dirty="0">
              <a:solidFill>
                <a:prstClr val="black"/>
              </a:solidFill>
              <a:latin typeface="Calibri"/>
              <a:ea typeface="宋体" panose="02010600030101010101" pitchFamily="2" charset="-122"/>
              <a:sym typeface="Wingdings 2" panose="05020102010507070707" pitchFamily="18" charset="2"/>
            </a:endParaRPr>
          </a:p>
          <a:p>
            <a:pPr marL="360000" indent="-457200" defTabSz="121917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 - to nurture new occupations and jobs to serve emerging industries and industries of the future</a:t>
            </a:r>
          </a:p>
        </p:txBody>
      </p:sp>
    </p:spTree>
    <p:extLst>
      <p:ext uri="{BB962C8B-B14F-4D97-AF65-F5344CB8AC3E}">
        <p14:creationId xmlns:p14="http://schemas.microsoft.com/office/powerpoint/2010/main" val="643058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05287"/>
            <a:ext cx="12881849" cy="7146413"/>
            <a:chOff x="0" y="92240"/>
            <a:chExt cx="12881849" cy="7146413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92240"/>
              <a:ext cx="426720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3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815678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</a:rPr>
                <a:t>Unemployment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524719" y="876618"/>
            <a:ext cx="12169352" cy="6184138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917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 - The service sector plays a greater role in job creation.</a:t>
            </a:r>
          </a:p>
          <a:p>
            <a:pPr marL="324000" indent="-324000" defTabSz="121917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To roll out large-scale training programs for upgrading vocational skills to </a:t>
            </a:r>
            <a:r>
              <a:rPr lang="en-US" altLang="zh-CN" sz="36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equip 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more workers</a:t>
            </a:r>
            <a:r>
              <a:rPr lang="en-US" altLang="zh-CN" sz="36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 with marketable skills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 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让更多劳动者拥有一技之长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</a:t>
            </a:r>
            <a:endParaRPr lang="en-US" altLang="zh-CN" sz="3600" dirty="0">
              <a:solidFill>
                <a:prstClr val="black"/>
              </a:solidFill>
              <a:latin typeface="Calibri"/>
              <a:ea typeface="宋体" panose="02010600030101010101" pitchFamily="2" charset="-122"/>
              <a:sym typeface="Wingdings 2" panose="05020102010507070707" pitchFamily="18" charset="2"/>
            </a:endParaRPr>
          </a:p>
          <a:p>
            <a:pPr marL="360000" indent="-457200" defTabSz="121917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 - in </a:t>
            </a:r>
            <a:r>
              <a:rPr lang="en-US" altLang="zh-CN" sz="3600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emerging fields of new quality productive forces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, such as artificial intelligence, new energy vehicles and the </a:t>
            </a:r>
            <a:r>
              <a:rPr lang="en-US" altLang="zh-CN" sz="36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low-altitude economy</a:t>
            </a:r>
            <a:endParaRPr lang="en-US" altLang="zh-CN" sz="3600" i="1" dirty="0">
              <a:solidFill>
                <a:prstClr val="black"/>
              </a:solidFill>
              <a:latin typeface="Calibri"/>
              <a:ea typeface="宋体" panose="02010600030101010101" pitchFamily="2" charset="-122"/>
              <a:sym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11690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05287"/>
            <a:ext cx="12881849" cy="7146413"/>
            <a:chOff x="0" y="92240"/>
            <a:chExt cx="12881849" cy="7146413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92240"/>
              <a:ext cx="426720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3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815678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</a:rPr>
                <a:t>Unemployment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380702" y="876618"/>
            <a:ext cx="12478047" cy="6184138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4000" indent="-324000" defTabSz="121917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Flexible employment and new forms of employment</a:t>
            </a:r>
          </a:p>
          <a:p>
            <a:pPr marL="432000" indent="-457200" defTabSz="121917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    </a:t>
            </a:r>
            <a:r>
              <a:rPr lang="en-US" altLang="zh-CN" sz="3600" i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work to effectively guide public opinion regarding career choices and personnel recruitment </a:t>
            </a:r>
          </a:p>
          <a:p>
            <a:pPr marL="324000" indent="-324000" defTabSz="121917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To broaden the coverage of </a:t>
            </a:r>
            <a:r>
              <a:rPr lang="en-US" altLang="zh-CN" sz="36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unemployment insurance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 and expand trials of </a:t>
            </a:r>
            <a:r>
              <a:rPr lang="en-US" altLang="zh-CN" sz="36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occupational injury insurance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 </a:t>
            </a:r>
          </a:p>
          <a:p>
            <a:pPr marL="324000" indent="-324000" defTabSz="121917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To facilitate employment for college graduates</a:t>
            </a:r>
          </a:p>
          <a:p>
            <a:pPr marL="360000" lvl="0" indent="-457200" defTabSz="121917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 - </a:t>
            </a:r>
            <a:r>
              <a:rPr lang="en-US" altLang="zh-CN" sz="3600" i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Unemployed college graduates who meet the conditions will be included in the minimum living standard guarantee program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. [2025]</a:t>
            </a:r>
          </a:p>
          <a:p>
            <a:pPr marL="360000" lvl="0" indent="-457200" defTabSz="121917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/>
            </a:pP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 - </a:t>
            </a:r>
            <a:r>
              <a:rPr lang="en-US" altLang="zh-CN" sz="3600" i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sym typeface="Wingdings 2" panose="05020102010507070707" pitchFamily="18" charset="2"/>
              </a:rPr>
              <a:t>To train graduates and youths to improve their </a:t>
            </a:r>
            <a:r>
              <a:rPr lang="en-US" altLang="zh-CN" sz="3600" b="1" i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sym typeface="Wingdings 2" panose="05020102010507070707" pitchFamily="18" charset="2"/>
              </a:rPr>
              <a:t>employability</a:t>
            </a:r>
            <a:r>
              <a:rPr lang="en-US" altLang="zh-CN" sz="36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.</a:t>
            </a:r>
            <a:endParaRPr lang="en-US" altLang="zh-CN" sz="3600" b="1" i="1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sym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17864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30"/>
          <a:stretch/>
        </p:blipFill>
        <p:spPr>
          <a:xfrm>
            <a:off x="20663" y="-1"/>
            <a:ext cx="12838087" cy="7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956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40173"/>
            <a:ext cx="12881849" cy="7111527"/>
            <a:chOff x="0" y="127126"/>
            <a:chExt cx="12881849" cy="7111527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27126"/>
              <a:ext cx="460382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4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974096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ndara" panose="020E0502030303020204" pitchFamily="34" charset="0"/>
                  <a:ea typeface="微软雅黑" panose="020B0503020204020204" pitchFamily="34" charset="-122"/>
                  <a:cs typeface="+mn-cs"/>
                </a:rPr>
                <a:t>Education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236687" y="974946"/>
            <a:ext cx="12529392" cy="6085809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 Education equality/equity and quality</a:t>
            </a:r>
            <a:endParaRPr lang="en-US" altLang="zh-C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432000" lvl="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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Our people face many difficulties in areas such as education… </a:t>
            </a:r>
          </a:p>
          <a:p>
            <a:pPr marL="0" indent="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 We have built the largest education system in the world.</a:t>
            </a:r>
          </a:p>
          <a:p>
            <a:pPr marL="432000" lvl="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 - 4 categories: basic education, higher education, vocational education and adult education</a:t>
            </a:r>
          </a:p>
          <a:p>
            <a:pPr marL="324000" indent="-3240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en-US" altLang="zh-CN" sz="36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Major projects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 To build a high-quality education system</a:t>
            </a:r>
          </a:p>
          <a:p>
            <a:pPr marL="324000" indent="-3240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en-US" altLang="zh-CN" sz="36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Major tasks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 To enhance education equity and quality</a:t>
            </a:r>
          </a:p>
          <a:p>
            <a:pPr marL="0" indent="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to adjust the layout and structure of educational resources</a:t>
            </a:r>
          </a:p>
          <a:p>
            <a:pPr marL="36000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to upgrade basic education, to develop balanced, quality compulsory education and inclusive, quality preschool education</a:t>
            </a:r>
          </a:p>
        </p:txBody>
      </p:sp>
    </p:spTree>
    <p:extLst>
      <p:ext uri="{BB962C8B-B14F-4D97-AF65-F5344CB8AC3E}">
        <p14:creationId xmlns:p14="http://schemas.microsoft.com/office/powerpoint/2010/main" val="272206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40173"/>
            <a:ext cx="12881849" cy="7111527"/>
            <a:chOff x="0" y="127126"/>
            <a:chExt cx="12881849" cy="7111527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27126"/>
              <a:ext cx="460382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4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974096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ndara" panose="020E0502030303020204" pitchFamily="34" charset="0"/>
                  <a:ea typeface="微软雅黑" panose="020B0503020204020204" pitchFamily="34" charset="-122"/>
                  <a:cs typeface="+mn-cs"/>
                </a:rPr>
                <a:t>Education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380703" y="974946"/>
            <a:ext cx="12385376" cy="6085809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(</a:t>
            </a:r>
            <a:r>
              <a:rPr lang="en-US" altLang="zh-CN" sz="36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Higher education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</a:t>
            </a:r>
          </a:p>
          <a:p>
            <a:pPr marL="32400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to improve mechanisms for ensuring that talent training programs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are geared to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economic and social development needs</a:t>
            </a:r>
          </a:p>
          <a:p>
            <a:pPr marL="32400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to advance reforms of higher education institutions on a categorized basis</a:t>
            </a:r>
          </a:p>
          <a:p>
            <a:pPr marL="0" indent="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to adjust academic disciplines and majors as needed </a:t>
            </a:r>
          </a:p>
          <a:p>
            <a:pPr marL="32400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to launch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a new round of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initiatives to develop world-class universities and academic disciplines</a:t>
            </a:r>
          </a:p>
        </p:txBody>
      </p:sp>
    </p:spTree>
    <p:extLst>
      <p:ext uri="{BB962C8B-B14F-4D97-AF65-F5344CB8AC3E}">
        <p14:creationId xmlns:p14="http://schemas.microsoft.com/office/powerpoint/2010/main" val="210278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40173"/>
            <a:ext cx="12881849" cy="7111527"/>
            <a:chOff x="0" y="127126"/>
            <a:chExt cx="12881849" cy="7111527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27126"/>
              <a:ext cx="460382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4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974096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ndara" panose="020E0502030303020204" pitchFamily="34" charset="0"/>
                  <a:ea typeface="微软雅黑" panose="020B0503020204020204" pitchFamily="34" charset="-122"/>
                  <a:cs typeface="+mn-cs"/>
                </a:rPr>
                <a:t>Education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452711" y="974946"/>
            <a:ext cx="12313368" cy="6085809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( </a:t>
            </a:r>
            <a:r>
              <a:rPr lang="en-US" altLang="zh-CN" sz="36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Talent needed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</a:t>
            </a:r>
          </a:p>
          <a:p>
            <a:pPr marL="32400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</a:t>
            </a:r>
            <a:r>
              <a:rPr lang="en-US" altLang="zh-CN" sz="36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- professionals with expertise of strategic importance to our country</a:t>
            </a:r>
          </a:p>
          <a:p>
            <a:pPr marL="32400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first-rate scientists and young talent</a:t>
            </a:r>
          </a:p>
          <a:p>
            <a:pPr marL="32400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outstanding engineers</a:t>
            </a:r>
          </a:p>
          <a:p>
            <a:pPr marL="32400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master craftspeople</a:t>
            </a:r>
          </a:p>
          <a:p>
            <a:pPr marL="32400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highly-skilled workers</a:t>
            </a:r>
          </a:p>
          <a:p>
            <a:pPr marL="32400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first-rate industrial technical workforce </a:t>
            </a:r>
          </a:p>
        </p:txBody>
      </p:sp>
    </p:spTree>
    <p:extLst>
      <p:ext uri="{BB962C8B-B14F-4D97-AF65-F5344CB8AC3E}">
        <p14:creationId xmlns:p14="http://schemas.microsoft.com/office/powerpoint/2010/main" val="3217925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40173"/>
            <a:ext cx="12881849" cy="7111527"/>
            <a:chOff x="0" y="127126"/>
            <a:chExt cx="12881849" cy="7111527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27126"/>
              <a:ext cx="426720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5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974096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ndara" panose="020E0502030303020204" pitchFamily="34" charset="0"/>
                  <a:ea typeface="微软雅黑" panose="020B0503020204020204" pitchFamily="34" charset="-122"/>
                  <a:cs typeface="+mn-cs"/>
                </a:rPr>
                <a:t>Healthcare and social security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236687" y="974946"/>
            <a:ext cx="12529392" cy="6085809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 Healthcare and social security</a:t>
            </a:r>
            <a:endParaRPr lang="en-US" altLang="zh-C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432000" lvl="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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Our people face many difficulties in areas such as employment, education, </a:t>
            </a:r>
            <a:r>
              <a:rPr lang="en-US" altLang="zh-CN" sz="3600" u="sng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medical services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, childcare, elderly care, and housing. </a:t>
            </a:r>
            <a:r>
              <a:rPr lang="en-US" altLang="zh-CN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[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二十大报告</a:t>
            </a:r>
            <a:r>
              <a:rPr lang="en-US" altLang="zh-CN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]</a:t>
            </a:r>
            <a:endParaRPr lang="en-US" altLang="zh-CN" sz="3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432000" lvl="0" indent="-4320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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Our work to ensure the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people’s wellbeing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was fraught with  weak links.</a:t>
            </a:r>
            <a:r>
              <a:rPr lang="en-US" altLang="zh-CN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[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二十大报告</a:t>
            </a:r>
            <a:r>
              <a:rPr lang="en-US" altLang="zh-CN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]</a:t>
            </a:r>
            <a:endParaRPr lang="en-US" altLang="zh-CN" sz="3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0" lvl="0" indent="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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There are still many weak links in public services. </a:t>
            </a:r>
            <a:r>
              <a:rPr lang="en-US" altLang="zh-CN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[2026]</a:t>
            </a:r>
          </a:p>
          <a:p>
            <a:pPr marL="432000" lvl="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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There are weak links in our work to ensure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public wellbeing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. </a:t>
            </a:r>
            <a:r>
              <a:rPr lang="en-US" altLang="zh-CN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[2025]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</a:t>
            </a:r>
            <a:endParaRPr lang="en-US" altLang="zh-CN" sz="32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338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40173"/>
            <a:ext cx="12881849" cy="7111527"/>
            <a:chOff x="0" y="127126"/>
            <a:chExt cx="12881849" cy="7111527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27126"/>
              <a:ext cx="426720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5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974096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ndara" panose="020E0502030303020204" pitchFamily="34" charset="0"/>
                  <a:ea typeface="微软雅黑" panose="020B0503020204020204" pitchFamily="34" charset="-122"/>
                  <a:cs typeface="+mn-cs"/>
                </a:rPr>
                <a:t>Healthcare and social security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236687" y="974946"/>
            <a:ext cx="12529392" cy="6085809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4000" indent="-32400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en-US" altLang="zh-CN" sz="36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Principle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 We have worked continuously to ensure people’s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access to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childcare, education, employment, medical services, elderly care, housing, and social assistance, thus bringing about an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all-around improvement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in people’s lives. </a:t>
            </a:r>
            <a:r>
              <a:rPr lang="en-US" altLang="zh-CN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[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二十大报告</a:t>
            </a:r>
            <a:r>
              <a:rPr lang="en-US" altLang="zh-CN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]</a:t>
            </a:r>
            <a:endParaRPr lang="en-US" altLang="zh-CN" sz="3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324000" lvl="0" indent="-45720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 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在幼有所育、学有所教、劳有所得、病有所医、老有所养、住有所居、弱有所扶上持续用力，人民生活全方位改善。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</a:t>
            </a:r>
          </a:p>
          <a:p>
            <a:pPr marL="324000" lvl="0" indent="-3240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en-US" altLang="zh-CN" sz="36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Objectives of 15</a:t>
            </a:r>
            <a:r>
              <a:rPr lang="en-US" altLang="zh-CN" sz="3600" i="1" baseline="30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th</a:t>
            </a:r>
            <a:r>
              <a:rPr lang="en-US" altLang="zh-CN" sz="36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FYP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 In the area of public wellbeing, seven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indicators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are proposed, covering employment, income, education, medical care, health, elderly care, and childcare, with the aim of better addressing pressing difficulties and problems that concern people most. </a:t>
            </a:r>
          </a:p>
          <a:p>
            <a:pPr marL="0" lvl="0" indent="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en-US" altLang="zh-CN" sz="3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2899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40173"/>
            <a:ext cx="12881849" cy="7111527"/>
            <a:chOff x="0" y="127126"/>
            <a:chExt cx="12881849" cy="7111527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27126"/>
              <a:ext cx="426720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5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974096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ndara" panose="020E0502030303020204" pitchFamily="34" charset="0"/>
                  <a:ea typeface="微软雅黑" panose="020B0503020204020204" pitchFamily="34" charset="-122"/>
                  <a:cs typeface="+mn-cs"/>
                </a:rPr>
                <a:t>Healthcare and social security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236687" y="879780"/>
            <a:ext cx="12529392" cy="6180975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 We have built the largest social security system in the world.</a:t>
            </a:r>
          </a:p>
          <a:p>
            <a:pPr marL="0" lvl="0" indent="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 -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old-age insurance</a:t>
            </a:r>
          </a:p>
          <a:p>
            <a:pPr marL="0" lvl="0" indent="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-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maternity insurance</a:t>
            </a:r>
          </a:p>
          <a:p>
            <a:pPr marL="0" lvl="0" indent="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-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unemployment insurance</a:t>
            </a:r>
          </a:p>
          <a:p>
            <a:pPr marL="0" lvl="0" indent="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-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occupational injury insurance</a:t>
            </a:r>
          </a:p>
          <a:p>
            <a:pPr marL="0" lvl="0" indent="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-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medical insurance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</a:t>
            </a:r>
          </a:p>
          <a:p>
            <a:pPr marL="432000" lvl="0" indent="-45720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   (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basic medical insurance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+ major disease insurance + long-term care insurance + commercial health insurance)</a:t>
            </a:r>
          </a:p>
          <a:p>
            <a:pPr marL="324000" indent="-3240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en-US" altLang="zh-CN" sz="36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Major tasks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 To strengthen basic medical and health services</a:t>
            </a:r>
          </a:p>
          <a:p>
            <a:pPr mar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to improve the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multi-tiered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medical security system</a:t>
            </a:r>
          </a:p>
          <a:p>
            <a:pPr marL="324000" indent="-32400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To improve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living standards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惠民生</a:t>
            </a:r>
            <a:r>
              <a:rPr lang="zh-CN" altLang="en-US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）</a:t>
            </a:r>
            <a:endParaRPr lang="en-US" altLang="zh-CN" sz="32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Calibri" panose="020F0502020204030204" pitchFamily="34" charset="0"/>
              <a:sym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57704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71894"/>
            <a:ext cx="12881849" cy="7079806"/>
            <a:chOff x="0" y="158847"/>
            <a:chExt cx="12881849" cy="7079806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77368"/>
              <a:ext cx="455574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6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974096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</a:rPr>
                <a:t>Housing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524719" y="974946"/>
            <a:ext cx="12097344" cy="6085809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2000" lvl="0" indent="-45720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 Housing </a:t>
            </a:r>
          </a:p>
          <a:p>
            <a:pPr marL="432000" lvl="0" indent="-457200" defTabSz="91440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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Our people face many difficulties in areas such as housing…</a:t>
            </a:r>
          </a:p>
          <a:p>
            <a:pPr marL="432000" indent="-457200" defTabSz="91440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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risks and potential dangers in real estate </a:t>
            </a:r>
            <a:r>
              <a:rPr lang="en-US" altLang="zh-CN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[2025]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</a:t>
            </a:r>
            <a:endParaRPr lang="en-US" altLang="zh-C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432000" indent="-457200" defTabSz="91440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  - There are many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risks and hidden dangers in key areas. / 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The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real estate market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remains in a period of adjustment.</a:t>
            </a:r>
            <a:r>
              <a:rPr lang="en-US" altLang="zh-CN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[2026]</a:t>
            </a:r>
            <a:endParaRPr lang="en-US" altLang="zh-C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432000" lvl="0" indent="-457200" defTabSz="91440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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Statistics: e.g., high housing price, undelivered property …</a:t>
            </a:r>
          </a:p>
          <a:p>
            <a:pPr marL="324000" indent="-324000" defTabSz="91440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(</a:t>
            </a:r>
            <a:r>
              <a:rPr lang="en-US" altLang="zh-CN" sz="36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Principle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)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To build a housing system featuring multiple suppliers and various channels of support that encourages both housing rentals and purchases</a:t>
            </a:r>
            <a:r>
              <a:rPr lang="en-US" altLang="zh-CN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 [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二十大报告</a:t>
            </a:r>
            <a:r>
              <a:rPr lang="en-US" altLang="zh-CN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]</a:t>
            </a:r>
            <a:endParaRPr lang="en-US" altLang="zh-CN" sz="3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0" indent="0" defTabSz="91440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建立多主体供给、多渠道保障、租购并举的住房制度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</a:t>
            </a:r>
            <a:endParaRPr lang="en-US" altLang="zh-CN" sz="3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32525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71894"/>
            <a:ext cx="12881849" cy="7079806"/>
            <a:chOff x="0" y="158847"/>
            <a:chExt cx="12881849" cy="7079806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84627"/>
              <a:ext cx="455574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6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1082108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</a:rPr>
                <a:t>Housing</a:t>
              </a: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596727" y="884264"/>
            <a:ext cx="12169352" cy="6162453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4000" indent="-3240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government-subsidized housing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保障性住房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</a:t>
            </a:r>
            <a:endParaRPr lang="en-US" altLang="zh-C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324000" indent="-3240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affordable housing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经济适用房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</a:t>
            </a:r>
            <a:endParaRPr lang="en-US" altLang="zh-C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324000" indent="-3240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better housing 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改善性住房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</a:t>
            </a:r>
            <a:endParaRPr lang="en-US" altLang="zh-CN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324000" indent="-3240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commodity housing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;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commodity housing stock 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zh-CN" altLang="en-US" sz="36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存量商品房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</a:t>
            </a:r>
            <a:endParaRPr lang="en-US" altLang="zh-C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324000" indent="-3240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en-US" altLang="zh-CN" sz="3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Major tasks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 To stabilize the real estate market</a:t>
            </a:r>
          </a:p>
          <a:p>
            <a:pPr mar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to introduce city-specific policies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因城施策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</a:t>
            </a:r>
            <a:endParaRPr lang="en-US" altLang="zh-C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to deepen reform of the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housing provident fund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system</a:t>
            </a:r>
          </a:p>
          <a:p>
            <a:pPr mar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to ensure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timely delivery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of housing projects</a:t>
            </a:r>
          </a:p>
          <a:p>
            <a:pPr mar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to improve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property services</a:t>
            </a:r>
          </a:p>
          <a:p>
            <a:pPr mar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- to 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create a new development model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for the real estate sector</a:t>
            </a:r>
          </a:p>
          <a:p>
            <a:pPr mar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altLang="zh-CN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0433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30563"/>
            <a:ext cx="12881849" cy="7121137"/>
            <a:chOff x="0" y="117516"/>
            <a:chExt cx="12881849" cy="7121137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17516"/>
              <a:ext cx="423514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7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974096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</a:rPr>
                <a:t>Debt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524719" y="974946"/>
            <a:ext cx="12097344" cy="6085809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2000" lvl="0" indent="-45720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 Debt burden (government, corporate &amp; household) </a:t>
            </a:r>
          </a:p>
          <a:p>
            <a:pPr marL="432000" lvl="0" indent="-457200" defTabSz="91440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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household/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personal debt </a:t>
            </a:r>
          </a:p>
          <a:p>
            <a:pPr marL="432000" lvl="0" indent="-457200" defTabSz="91440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   mortgage slave</a:t>
            </a:r>
          </a:p>
          <a:p>
            <a:pPr marL="324000" indent="-32400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Lowering housing purchase costs</a:t>
            </a:r>
          </a:p>
          <a:p>
            <a:pPr marL="432000" indent="-457200" defTabSz="91440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to cut interest rates on mortgages</a:t>
            </a:r>
          </a:p>
          <a:p>
            <a:pPr marL="360000" indent="-457200" defTabSz="91440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to reduce the ratios of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down payments,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and taxes and fees on housing transactions </a:t>
            </a:r>
          </a:p>
          <a:p>
            <a:pPr marL="324000" indent="-324000" defTabSz="91440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To broaden the coverage of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loan interest subsidies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for personal consumers 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贷款贴息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</a:t>
            </a:r>
            <a:endParaRPr lang="en-US" altLang="zh-CN" sz="3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43516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28115"/>
            <a:ext cx="12881849" cy="7123585"/>
            <a:chOff x="0" y="115068"/>
            <a:chExt cx="12881849" cy="7123585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15068"/>
              <a:ext cx="423514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7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1082108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</a:rPr>
                <a:t>Debt</a:t>
              </a:r>
              <a:endParaRPr lang="en-US" altLang="zh-CN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624434" y="947471"/>
            <a:ext cx="12169352" cy="6085809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Char char="ý"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risks and hidden dangers in key areas (local government debt)</a:t>
            </a:r>
          </a:p>
          <a:p>
            <a:pPr marL="432000" lvl="0" indent="-45720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  Some local governments are burdened by severe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budgetary imbalances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[2026]</a:t>
            </a:r>
          </a:p>
          <a:p>
            <a:pPr marL="324000" indent="-32400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en-US" altLang="zh-CN" sz="36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Major tasks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 To take active and well-ordered measures to defuse local government debt risks</a:t>
            </a:r>
          </a:p>
          <a:p>
            <a:pPr marL="324000" indent="-4572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- to replace hidden debts and settle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overdue payments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owed by governments</a:t>
            </a:r>
          </a:p>
          <a:p>
            <a:pPr mar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  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-</a:t>
            </a: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local government special-purpose bonds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(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" panose="05000000000000000000" pitchFamily="2" charset="2"/>
              </a:rPr>
              <a:t>地方政府专项债券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)</a:t>
            </a:r>
            <a:endParaRPr lang="en-US" altLang="zh-C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32400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The central government will increase its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fiscal transfer payments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to local governments.  </a:t>
            </a:r>
          </a:p>
        </p:txBody>
      </p:sp>
    </p:spTree>
    <p:extLst>
      <p:ext uri="{BB962C8B-B14F-4D97-AF65-F5344CB8AC3E}">
        <p14:creationId xmlns:p14="http://schemas.microsoft.com/office/powerpoint/2010/main" val="2746293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30563"/>
            <a:ext cx="12881849" cy="7121137"/>
            <a:chOff x="0" y="117516"/>
            <a:chExt cx="12881849" cy="7121137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17516"/>
              <a:ext cx="423514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7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974096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</a:rPr>
                <a:t>Debt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524719" y="974946"/>
            <a:ext cx="12097344" cy="6085809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2000" lvl="0" indent="-457200" defTabSz="91440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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corporate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debt </a:t>
            </a:r>
          </a:p>
          <a:p>
            <a:pPr marL="324000" indent="-3240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To ensure that overdue payments owed to enterprises are settled </a:t>
            </a:r>
          </a:p>
          <a:p>
            <a:pPr marL="324000" indent="-3240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To further reduce overall financing costs</a:t>
            </a:r>
          </a:p>
          <a:p>
            <a:pPr marL="324000" indent="-3240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The one-time credit repair scheme 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(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 2" panose="05020102010507070707" pitchFamily="18" charset="2"/>
              </a:rPr>
              <a:t>一次性信用修复政策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)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324000" indent="-3240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To develop a credit-based economy</a:t>
            </a:r>
          </a:p>
          <a:p>
            <a:pPr marL="0" indent="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to refine the systems for … social credit, … and market exit …</a:t>
            </a:r>
          </a:p>
        </p:txBody>
      </p:sp>
    </p:spTree>
    <p:extLst>
      <p:ext uri="{BB962C8B-B14F-4D97-AF65-F5344CB8AC3E}">
        <p14:creationId xmlns:p14="http://schemas.microsoft.com/office/powerpoint/2010/main" val="3274621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71894"/>
            <a:ext cx="12881849" cy="7079806"/>
            <a:chOff x="0" y="158847"/>
            <a:chExt cx="12881849" cy="7079806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90569"/>
              <a:ext cx="460382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8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974096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</a:rPr>
                <a:t>Environment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380703" y="974946"/>
            <a:ext cx="12385376" cy="6085809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2000" lvl="0" indent="-45720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 Environment and green transition </a:t>
            </a:r>
          </a:p>
          <a:p>
            <a:pPr marL="360000" indent="-45720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 A drop of 5.1 percent in energy consumption per unit of GDP contributed to continued improvement in the environment.</a:t>
            </a:r>
          </a:p>
          <a:p>
            <a:pPr marL="360000" indent="-45720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 Initiative to build a Beautiful China</a:t>
            </a:r>
          </a:p>
          <a:p>
            <a:pPr marL="324000" indent="-324000" defTabSz="91440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en-US" altLang="zh-CN" sz="36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Principle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 Green development is a defining feature of Chinese modernization.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" panose="05000000000000000000" pitchFamily="2" charset="2"/>
              </a:rPr>
              <a:t>绿色发展是中国式现代化的鲜明底色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)</a:t>
            </a:r>
            <a:endParaRPr lang="en-US" altLang="zh-CN" sz="3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324000" indent="-324000" defTabSz="91440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en-US" altLang="zh-CN" sz="36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Major tasks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 Accelerating the green transition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across the board</a:t>
            </a:r>
          </a:p>
          <a:p>
            <a:pPr marL="0" indent="0" defTabSz="91440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five indicators; 18 projects</a:t>
            </a:r>
          </a:p>
          <a:p>
            <a:pPr marL="0" indent="0" defTabSz="91440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to strengthen our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green development drivers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</a:t>
            </a:r>
          </a:p>
          <a:p>
            <a:pPr mar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" panose="05000000000000000000" pitchFamily="2" charset="2"/>
              </a:rPr>
              <a:t>增强绿色发展动能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)</a:t>
            </a:r>
            <a:endParaRPr lang="en-US" altLang="zh-CN" sz="3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56031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71894"/>
            <a:ext cx="12881849" cy="7079806"/>
            <a:chOff x="0" y="158847"/>
            <a:chExt cx="12881849" cy="7079806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90569"/>
              <a:ext cx="460382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8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974096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</a:rPr>
                <a:t>Environment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380703" y="974946"/>
            <a:ext cx="12313368" cy="6085809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2000" lvl="0" indent="-45720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- to boost the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green and low-carbon economy</a:t>
            </a:r>
          </a:p>
          <a:p>
            <a:pPr marL="432000" indent="-457200" defTabSz="91440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- to launch initiatives for upgrading quality, lowering costs, and reducing carbon emissions in key industries</a:t>
            </a:r>
          </a:p>
          <a:p>
            <a:pPr marL="432000" indent="-457200" defTabSz="91440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- to phase out outdated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production capacity</a:t>
            </a:r>
          </a:p>
        </p:txBody>
      </p:sp>
    </p:spTree>
    <p:extLst>
      <p:ext uri="{BB962C8B-B14F-4D97-AF65-F5344CB8AC3E}">
        <p14:creationId xmlns:p14="http://schemas.microsoft.com/office/powerpoint/2010/main" val="256684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28115"/>
            <a:ext cx="12881849" cy="7123585"/>
            <a:chOff x="0" y="115068"/>
            <a:chExt cx="12881849" cy="7123585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15068"/>
              <a:ext cx="455574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9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1082108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</a:rPr>
                <a:t>Infrastructure</a:t>
              </a: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596727" y="836001"/>
            <a:ext cx="12169352" cy="6189928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2000" lvl="0" indent="-45720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 Infrastructure development </a:t>
            </a:r>
          </a:p>
          <a:p>
            <a:pPr marL="43200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 China has built the world’s largest networks of high-speed railways and expressways and made major achievements in building airports, ports, and water conservancy, energy, information, and other infrastructure. </a:t>
            </a:r>
            <a:r>
              <a:rPr lang="en-US" altLang="zh-CN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[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二十大报告</a:t>
            </a:r>
            <a:r>
              <a:rPr lang="en-US" altLang="zh-CN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]</a:t>
            </a:r>
            <a:endParaRPr lang="en-US" altLang="zh-CN" sz="3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324000" indent="-3240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(</a:t>
            </a:r>
            <a:r>
              <a:rPr lang="en-US" altLang="zh-CN" sz="36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Major projects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) To modernize the infrastructure system</a:t>
            </a:r>
          </a:p>
          <a:p>
            <a:pPr marL="288000" indent="-32400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- 23 projects target the development of a national comprehensive and multidimensional transportation network, a new type of energy system, new types of infrastructure, and platforms for opening up </a:t>
            </a:r>
            <a:endParaRPr lang="en-US" altLang="zh-CN" sz="3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- to build digital and smart infrastructure</a:t>
            </a:r>
          </a:p>
          <a:p>
            <a:pPr marL="0" indent="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altLang="zh-CN" sz="3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73986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71894"/>
            <a:ext cx="12881849" cy="7079806"/>
            <a:chOff x="0" y="158847"/>
            <a:chExt cx="12881849" cy="7079806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90569"/>
              <a:ext cx="630301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10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974096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</a:rPr>
                <a:t>Regional development imbalance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380703" y="911502"/>
            <a:ext cx="12385376" cy="6149253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2000" lvl="0" indent="-45720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 Regional development imbalance</a:t>
            </a:r>
          </a:p>
          <a:p>
            <a:pPr marL="432000" lvl="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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There are still </a:t>
            </a:r>
            <a:r>
              <a:rPr lang="en-US" altLang="zh-CN" sz="3600" u="sng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wide gaps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development between urban and rural areas and between regions. </a:t>
            </a:r>
            <a:r>
              <a:rPr lang="en-US" altLang="zh-CN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[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二十大报告</a:t>
            </a:r>
            <a:r>
              <a:rPr lang="en-US" altLang="zh-CN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] </a:t>
            </a:r>
          </a:p>
          <a:p>
            <a:pPr marL="324000" indent="-3240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(</a:t>
            </a:r>
            <a:r>
              <a:rPr lang="en-US" altLang="zh-CN" sz="36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Major tasks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) To narrow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disparities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between urban and rural areas and between regions</a:t>
            </a:r>
          </a:p>
          <a:p>
            <a:pPr marL="324000" indent="-3240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-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to give full play to the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synergies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between the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coordinated regional development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strategy, major regional strategies, the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functional zoning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strategy, and the new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urbanizatio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n strategy (four strategies)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</a:p>
          <a:p>
            <a:pPr marL="324000" indent="-32400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  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" panose="05000000000000000000" pitchFamily="2" charset="2"/>
              </a:rPr>
              <a:t>发挥区域协调发展战略、区域重大战略、主体功能区战略、新型城镇化战略叠加效应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)</a:t>
            </a:r>
            <a:endParaRPr lang="en-US" altLang="zh-CN" sz="3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79721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71894"/>
            <a:ext cx="12881849" cy="7079806"/>
            <a:chOff x="0" y="158847"/>
            <a:chExt cx="12881849" cy="7079806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90569"/>
              <a:ext cx="630301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10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974096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</a:rPr>
                <a:t>Regional development imbalance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236687" y="879780"/>
            <a:ext cx="12529392" cy="6180975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2000" lvl="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- to develop a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regional economic layout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that enable regions to leverage their complementary strengths in pursuit of high-quality development </a:t>
            </a:r>
          </a:p>
          <a:p>
            <a:pPr marL="432000" lvl="0" indent="-45720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 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" panose="05000000000000000000" pitchFamily="2" charset="2"/>
              </a:rPr>
              <a:t>构建优势互补、高质量发展的区域经济布局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)</a:t>
            </a:r>
          </a:p>
          <a:p>
            <a:pPr marL="432000" lvl="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-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to encourage the Beijing-Tianjin-Hebei region, the Yangtze River Delta, and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the Guangdong-Hong Kong-Macao Greater Bay Area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to build themselves into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world-class city clusters</a:t>
            </a:r>
            <a:endParaRPr lang="en-US" altLang="zh-CN" sz="3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432000" lvl="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- to consolidate and enhance the roles of the Beijing-Tianjin-Hebei region, the Yangtze River Delta, and the Guangdong-Hong Kong-Macao Greater Bay Area as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engines of high quality development 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" panose="05000000000000000000" pitchFamily="2" charset="2"/>
              </a:rPr>
              <a:t>高质量发展动力源作用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)</a:t>
            </a:r>
            <a:endParaRPr lang="en-US" altLang="zh-CN" sz="36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4500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71894"/>
            <a:ext cx="12881849" cy="7079806"/>
            <a:chOff x="0" y="158847"/>
            <a:chExt cx="12881849" cy="7079806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90569"/>
              <a:ext cx="630301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10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974096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</a:rPr>
                <a:t>Regional development imbalance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236687" y="974946"/>
            <a:ext cx="12529392" cy="6085809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2000" lvl="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- to support major provincial economies in assuming greater responsibility and encourage them to play a leading, exemplary role in advancing Chinese modernization.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</a:p>
          <a:p>
            <a:pPr marL="432000" lvl="0" indent="-45720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   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" panose="05000000000000000000" pitchFamily="2" charset="2"/>
              </a:rPr>
              <a:t>支持经济大省挑大梁，在推进中国式现代化中走在前作示范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)</a:t>
            </a:r>
            <a:endParaRPr lang="en-US" altLang="zh-CN" sz="3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432000" lvl="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- to strengthen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differentiated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/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tailored 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policy support </a:t>
            </a:r>
          </a:p>
          <a:p>
            <a:pPr marL="432000" lvl="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- to boost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interconnected development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between regions</a:t>
            </a:r>
            <a:r>
              <a:rPr lang="zh-CN" altLang="en-US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</a:t>
            </a:r>
            <a:endParaRPr lang="en-US" altLang="zh-CN" sz="3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432000" lvl="0" indent="-45720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    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(</a:t>
            </a:r>
            <a:r>
              <a:rPr lang="zh-CN" altLang="en-US" sz="32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  <a:sym typeface="Wingdings" panose="05000000000000000000" pitchFamily="2" charset="2"/>
              </a:rPr>
              <a:t>促进区域联动发展</a:t>
            </a:r>
            <a:r>
              <a:rPr lang="en-US" altLang="zh-CN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)</a:t>
            </a:r>
            <a:endParaRPr lang="en-US" altLang="zh-CN" sz="32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4627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71894"/>
            <a:ext cx="12881849" cy="7079806"/>
            <a:chOff x="0" y="158847"/>
            <a:chExt cx="12881849" cy="7079806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72662"/>
              <a:ext cx="527709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11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1082108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</a:rPr>
                <a:t>Digital transformation</a:t>
              </a: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596727" y="808013"/>
            <a:ext cx="12169352" cy="6217915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2000" lvl="0" indent="-45720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 Digital transformation and industrial upgrading</a:t>
            </a:r>
          </a:p>
          <a:p>
            <a:pPr marL="43200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 transformation and upgrading of traditional industries continued, emerging industries and industries of the future achieved impressive growth</a:t>
            </a:r>
          </a:p>
          <a:p>
            <a:pPr marL="432000" indent="-4572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 2" panose="05020102010507070707" pitchFamily="18" charset="2"/>
              </a:rPr>
              <a:t> moved ahead with digital transformation of manufacturing and the AI Plus Initiative.</a:t>
            </a:r>
          </a:p>
          <a:p>
            <a:pPr marL="324000" indent="-3240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Advancing the Digital China Initiative</a:t>
            </a:r>
          </a:p>
          <a:p>
            <a:pPr mar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- data as a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factor of production</a:t>
            </a:r>
          </a:p>
          <a:p>
            <a:pPr marL="324000" indent="-45720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- to promote full integration between the real economy and the digital economy</a:t>
            </a:r>
          </a:p>
          <a:p>
            <a:pPr marL="324000" indent="-45720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- to advance the AI Plus Initiative across the board</a:t>
            </a:r>
          </a:p>
        </p:txBody>
      </p:sp>
    </p:spTree>
    <p:extLst>
      <p:ext uri="{BB962C8B-B14F-4D97-AF65-F5344CB8AC3E}">
        <p14:creationId xmlns:p14="http://schemas.microsoft.com/office/powerpoint/2010/main" val="1106253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4049" y="171894"/>
            <a:ext cx="12881849" cy="7079806"/>
            <a:chOff x="0" y="158847"/>
            <a:chExt cx="12881849" cy="7079806"/>
          </a:xfrm>
        </p:grpSpPr>
        <p:sp>
          <p:nvSpPr>
            <p:cNvPr id="36" name="任意多边形 35"/>
            <p:cNvSpPr/>
            <p:nvPr/>
          </p:nvSpPr>
          <p:spPr>
            <a:xfrm>
              <a:off x="0" y="222292"/>
              <a:ext cx="1655377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6849" h="1182250">
                  <a:moveTo>
                    <a:pt x="2445724" y="0"/>
                  </a:moveTo>
                  <a:cubicBezTo>
                    <a:pt x="2772193" y="0"/>
                    <a:pt x="3036849" y="264656"/>
                    <a:pt x="3036849" y="591125"/>
                  </a:cubicBezTo>
                  <a:cubicBezTo>
                    <a:pt x="3036849" y="917594"/>
                    <a:pt x="2772193" y="1182250"/>
                    <a:pt x="2445724" y="1182250"/>
                  </a:cubicBezTo>
                  <a:lnTo>
                    <a:pt x="2367755" y="1174390"/>
                  </a:lnTo>
                  <a:lnTo>
                    <a:pt x="0" y="1174390"/>
                  </a:lnTo>
                  <a:lnTo>
                    <a:pt x="0" y="7860"/>
                  </a:lnTo>
                  <a:lnTo>
                    <a:pt x="2367755" y="7860"/>
                  </a:lnTo>
                  <a:close/>
                </a:path>
              </a:pathLst>
            </a:custGeom>
            <a:solidFill>
              <a:srgbClr val="8CC9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1748855" y="222292"/>
              <a:ext cx="11113944" cy="644441"/>
            </a:xfrm>
            <a:custGeom>
              <a:avLst/>
              <a:gdLst>
                <a:gd name="connsiteX0" fmla="*/ 2445724 w 3036849"/>
                <a:gd name="connsiteY0" fmla="*/ 0 h 1182250"/>
                <a:gd name="connsiteX1" fmla="*/ 3036849 w 3036849"/>
                <a:gd name="connsiteY1" fmla="*/ 591125 h 1182250"/>
                <a:gd name="connsiteX2" fmla="*/ 2445724 w 3036849"/>
                <a:gd name="connsiteY2" fmla="*/ 1182250 h 1182250"/>
                <a:gd name="connsiteX3" fmla="*/ 2367755 w 3036849"/>
                <a:gd name="connsiteY3" fmla="*/ 1174390 h 1182250"/>
                <a:gd name="connsiteX4" fmla="*/ 0 w 3036849"/>
                <a:gd name="connsiteY4" fmla="*/ 1174390 h 1182250"/>
                <a:gd name="connsiteX5" fmla="*/ 0 w 3036849"/>
                <a:gd name="connsiteY5" fmla="*/ 7860 h 1182250"/>
                <a:gd name="connsiteX6" fmla="*/ 2367755 w 3036849"/>
                <a:gd name="connsiteY6" fmla="*/ 7860 h 1182250"/>
                <a:gd name="connsiteX0" fmla="*/ 18984824 w 19575949"/>
                <a:gd name="connsiteY0" fmla="*/ 0 h 1182250"/>
                <a:gd name="connsiteX1" fmla="*/ 19575949 w 19575949"/>
                <a:gd name="connsiteY1" fmla="*/ 591125 h 1182250"/>
                <a:gd name="connsiteX2" fmla="*/ 18984824 w 19575949"/>
                <a:gd name="connsiteY2" fmla="*/ 1182250 h 1182250"/>
                <a:gd name="connsiteX3" fmla="*/ 18906855 w 19575949"/>
                <a:gd name="connsiteY3" fmla="*/ 1174390 h 1182250"/>
                <a:gd name="connsiteX4" fmla="*/ 16539100 w 19575949"/>
                <a:gd name="connsiteY4" fmla="*/ 1174390 h 1182250"/>
                <a:gd name="connsiteX5" fmla="*/ 0 w 19575949"/>
                <a:gd name="connsiteY5" fmla="*/ 112703 h 1182250"/>
                <a:gd name="connsiteX6" fmla="*/ 18906855 w 19575949"/>
                <a:gd name="connsiteY6" fmla="*/ 7860 h 1182250"/>
                <a:gd name="connsiteX7" fmla="*/ 18984824 w 19575949"/>
                <a:gd name="connsiteY7" fmla="*/ 0 h 1182250"/>
                <a:gd name="connsiteX0" fmla="*/ 18984826 w 19575951"/>
                <a:gd name="connsiteY0" fmla="*/ 0 h 1182250"/>
                <a:gd name="connsiteX1" fmla="*/ 19575951 w 19575951"/>
                <a:gd name="connsiteY1" fmla="*/ 591125 h 1182250"/>
                <a:gd name="connsiteX2" fmla="*/ 18984826 w 19575951"/>
                <a:gd name="connsiteY2" fmla="*/ 1182250 h 1182250"/>
                <a:gd name="connsiteX3" fmla="*/ 18906857 w 19575951"/>
                <a:gd name="connsiteY3" fmla="*/ 1174390 h 1182250"/>
                <a:gd name="connsiteX4" fmla="*/ 0 w 19575951"/>
                <a:gd name="connsiteY4" fmla="*/ 1148181 h 1182250"/>
                <a:gd name="connsiteX5" fmla="*/ 2 w 19575951"/>
                <a:gd name="connsiteY5" fmla="*/ 112703 h 1182250"/>
                <a:gd name="connsiteX6" fmla="*/ 18906857 w 19575951"/>
                <a:gd name="connsiteY6" fmla="*/ 7860 h 1182250"/>
                <a:gd name="connsiteX7" fmla="*/ 18984826 w 19575951"/>
                <a:gd name="connsiteY7" fmla="*/ 0 h 118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5951" h="1182250">
                  <a:moveTo>
                    <a:pt x="18984826" y="0"/>
                  </a:moveTo>
                  <a:cubicBezTo>
                    <a:pt x="19311295" y="0"/>
                    <a:pt x="19575951" y="264656"/>
                    <a:pt x="19575951" y="591125"/>
                  </a:cubicBezTo>
                  <a:cubicBezTo>
                    <a:pt x="19575951" y="917594"/>
                    <a:pt x="19311295" y="1182250"/>
                    <a:pt x="18984826" y="1182250"/>
                  </a:cubicBezTo>
                  <a:lnTo>
                    <a:pt x="18906857" y="1174390"/>
                  </a:lnTo>
                  <a:lnTo>
                    <a:pt x="0" y="1148181"/>
                  </a:lnTo>
                  <a:cubicBezTo>
                    <a:pt x="1" y="803022"/>
                    <a:pt x="1" y="457862"/>
                    <a:pt x="2" y="112703"/>
                  </a:cubicBezTo>
                  <a:lnTo>
                    <a:pt x="18906857" y="7860"/>
                  </a:lnTo>
                  <a:lnTo>
                    <a:pt x="18984826" y="0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827688" y="172662"/>
              <a:ext cx="527709" cy="707886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11</a:t>
              </a:r>
              <a:endParaRPr lang="zh-CN" altLang="en-US" sz="4000" b="1" dirty="0">
                <a:solidFill>
                  <a:schemeClr val="bg1"/>
                </a:solidFill>
                <a:latin typeface="Candara" panose="020E0502030303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1"/>
            <p:cNvSpPr txBox="1"/>
            <p:nvPr/>
          </p:nvSpPr>
          <p:spPr>
            <a:xfrm>
              <a:off x="1949046" y="158847"/>
              <a:ext cx="1082108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solidFill>
                    <a:schemeClr val="bg1"/>
                  </a:solidFill>
                  <a:latin typeface="Candara" panose="020E0502030303020204" pitchFamily="34" charset="0"/>
                  <a:ea typeface="微软雅黑" panose="020B0503020204020204" pitchFamily="34" charset="-122"/>
                </a:rPr>
                <a:t>Digital transformation</a:t>
              </a:r>
            </a:p>
          </p:txBody>
        </p:sp>
        <p:sp>
          <p:nvSpPr>
            <p:cNvPr id="48" name="矩形 47"/>
            <p:cNvSpPr/>
            <p:nvPr/>
          </p:nvSpPr>
          <p:spPr>
            <a:xfrm>
              <a:off x="0" y="7124353"/>
              <a:ext cx="12881849" cy="114300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322FBEBB-7084-4117-B1C4-0278842E584F}"/>
              </a:ext>
            </a:extLst>
          </p:cNvPr>
          <p:cNvSpPr txBox="1">
            <a:spLocks/>
          </p:cNvSpPr>
          <p:nvPr/>
        </p:nvSpPr>
        <p:spPr>
          <a:xfrm>
            <a:off x="596727" y="929409"/>
            <a:ext cx="12169352" cy="6096519"/>
          </a:xfrm>
          <a:prstGeom prst="rect">
            <a:avLst/>
          </a:prstGeom>
        </p:spPr>
        <p:txBody>
          <a:bodyPr/>
          <a:lstStyle>
            <a:lvl1pPr marL="228620" indent="-228620" algn="l" defTabSz="91447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5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9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33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71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09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48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86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24" indent="-228620" algn="l" defTabSz="9144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4000" indent="-324000" defTabSz="9144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Building a modernized industrial system</a:t>
            </a:r>
            <a:endParaRPr lang="en-US" altLang="zh-CN" sz="3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 2" panose="05020102010507070707" pitchFamily="18" charset="2"/>
            </a:endParaRPr>
          </a:p>
          <a:p>
            <a:pPr marL="324000" indent="-3240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- to ramp up support for small and medium-sized enterprises (SMEs) undergoing digital and intelligent transformation</a:t>
            </a:r>
          </a:p>
          <a:p>
            <a:pPr marL="324000" indent="-3240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- to enhance </a:t>
            </a:r>
            <a:r>
              <a:rPr lang="en-US" altLang="zh-CN" sz="3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smart manufacturing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(smart factories and intelligent supply chains) </a:t>
            </a:r>
          </a:p>
          <a:p>
            <a:pPr marL="324000" indent="-3240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- to develop smart construction (construction industrial chains)</a:t>
            </a:r>
          </a:p>
          <a:p>
            <a:pPr marL="324000" indent="-3240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- to promote integrated development of advanced manufacturing and modern services</a:t>
            </a:r>
          </a:p>
          <a:p>
            <a:pPr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3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To create new forms of smart economy</a:t>
            </a:r>
          </a:p>
          <a:p>
            <a:pPr marL="324000" indent="-32400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altLang="zh-CN" sz="3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7344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bt015.pptx"/>
</p:tagLst>
</file>

<file path=ppt/theme/theme1.xml><?xml version="1.0" encoding="utf-8"?>
<a:theme xmlns:a="http://schemas.openxmlformats.org/drawingml/2006/main" name="第一PPT，www.1ppt.com">
  <a:themeElements>
    <a:clrScheme name="奥斯汀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9D9D9">
            <a:alpha val="50196"/>
          </a:srgb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2582</Words>
  <Application>Microsoft Office PowerPoint</Application>
  <PresentationFormat>自定义</PresentationFormat>
  <Paragraphs>282</Paragraphs>
  <Slides>31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9" baseType="lpstr">
      <vt:lpstr>楷体</vt:lpstr>
      <vt:lpstr>宋体</vt:lpstr>
      <vt:lpstr>Arial</vt:lpstr>
      <vt:lpstr>Calibri</vt:lpstr>
      <vt:lpstr>Cambria</vt:lpstr>
      <vt:lpstr>Candara</vt:lpstr>
      <vt:lpstr>Wingdings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绿色清新</dc:title>
  <dc:creator/>
  <cp:keywords>user</cp:keywords>
  <cp:lastModifiedBy/>
  <cp:revision>1</cp:revision>
  <dcterms:created xsi:type="dcterms:W3CDTF">2016-09-15T16:21:21Z</dcterms:created>
  <dcterms:modified xsi:type="dcterms:W3CDTF">2026-05-12T02:13:28Z</dcterms:modified>
</cp:coreProperties>
</file>