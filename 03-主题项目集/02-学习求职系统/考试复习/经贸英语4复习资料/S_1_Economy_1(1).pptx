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  <p:sldMasterId id="2147483945" r:id="rId2"/>
    <p:sldMasterId id="2147483983" r:id="rId3"/>
  </p:sldMasterIdLst>
  <p:notesMasterIdLst>
    <p:notesMasterId r:id="rId22"/>
  </p:notesMasterIdLst>
  <p:sldIdLst>
    <p:sldId id="456" r:id="rId4"/>
    <p:sldId id="285" r:id="rId5"/>
    <p:sldId id="286" r:id="rId6"/>
    <p:sldId id="511" r:id="rId7"/>
    <p:sldId id="287" r:id="rId8"/>
    <p:sldId id="288" r:id="rId9"/>
    <p:sldId id="530" r:id="rId10"/>
    <p:sldId id="510" r:id="rId11"/>
    <p:sldId id="512" r:id="rId12"/>
    <p:sldId id="292" r:id="rId13"/>
    <p:sldId id="531" r:id="rId14"/>
    <p:sldId id="387" r:id="rId15"/>
    <p:sldId id="388" r:id="rId16"/>
    <p:sldId id="474" r:id="rId17"/>
    <p:sldId id="389" r:id="rId18"/>
    <p:sldId id="532" r:id="rId19"/>
    <p:sldId id="472" r:id="rId20"/>
    <p:sldId id="475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5CAC"/>
    <a:srgbClr val="088B2E"/>
    <a:srgbClr val="115FB1"/>
    <a:srgbClr val="C2D7F0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84" autoAdjust="0"/>
    <p:restoredTop sz="96758" autoAdjust="0"/>
  </p:normalViewPr>
  <p:slideViewPr>
    <p:cSldViewPr>
      <p:cViewPr varScale="1">
        <p:scale>
          <a:sx n="119" d="100"/>
          <a:sy n="119" d="100"/>
        </p:scale>
        <p:origin x="994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012A0-175E-4AD8-B058-0D68F0A538FF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E85EF-781B-47A1-BC08-F4D09F8282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528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8E85EF-781B-47A1-BC08-F4D09F8282C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054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7762" y="2556387"/>
            <a:ext cx="10795813" cy="195662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877" y="4852220"/>
            <a:ext cx="10354809" cy="904568"/>
          </a:xfrm>
        </p:spPr>
        <p:txBody>
          <a:bodyPr>
            <a:normAutofit/>
          </a:bodyPr>
          <a:lstStyle>
            <a:lvl1pPr marL="0" indent="0" algn="r">
              <a:buNone/>
              <a:defRPr sz="3733" b="0" i="0">
                <a:solidFill>
                  <a:srgbClr val="00B0F0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086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92" y="171299"/>
            <a:ext cx="11012131" cy="1018035"/>
          </a:xfrm>
        </p:spPr>
        <p:txBody>
          <a:bodyPr>
            <a:normAutofit/>
          </a:bodyPr>
          <a:lstStyle>
            <a:lvl1pPr algn="r">
              <a:defRPr sz="48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595" y="1573162"/>
            <a:ext cx="10972800" cy="4758813"/>
          </a:xfrm>
        </p:spPr>
        <p:txBody>
          <a:bodyPr/>
          <a:lstStyle>
            <a:lvl1pPr algn="l">
              <a:defRPr sz="3733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303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484" y="581378"/>
            <a:ext cx="8741245" cy="967132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0684" y="1612488"/>
            <a:ext cx="8701549" cy="4678168"/>
          </a:xfrm>
        </p:spPr>
        <p:txBody>
          <a:bodyPr/>
          <a:lstStyle>
            <a:lvl1pPr>
              <a:defRPr sz="3733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0320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3064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35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258" y="185210"/>
            <a:ext cx="10791153" cy="1018033"/>
          </a:xfrm>
        </p:spPr>
        <p:txBody>
          <a:bodyPr>
            <a:normAutofit/>
          </a:bodyPr>
          <a:lstStyle>
            <a:lvl1pPr algn="r">
              <a:defRPr sz="48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839" y="2010709"/>
            <a:ext cx="5386917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839" y="2640572"/>
            <a:ext cx="5386917" cy="3035059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</a:defRPr>
            </a:lvl1pPr>
            <a:lvl2pPr algn="ctr">
              <a:defRPr sz="2667">
                <a:solidFill>
                  <a:schemeClr val="tx1"/>
                </a:solidFill>
              </a:defRPr>
            </a:lvl2pPr>
            <a:lvl3pPr algn="ctr">
              <a:defRPr sz="2400">
                <a:solidFill>
                  <a:schemeClr val="tx1"/>
                </a:solidFill>
              </a:defRPr>
            </a:lvl3pPr>
            <a:lvl4pPr algn="ctr">
              <a:defRPr sz="2133">
                <a:solidFill>
                  <a:schemeClr val="tx1"/>
                </a:solidFill>
              </a:defRPr>
            </a:lvl4pPr>
            <a:lvl5pPr algn="ctr">
              <a:defRPr sz="2133">
                <a:solidFill>
                  <a:schemeClr val="tx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1" y="2010709"/>
            <a:ext cx="5389033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1" y="2640572"/>
            <a:ext cx="5389033" cy="3035059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</a:defRPr>
            </a:lvl1pPr>
            <a:lvl2pPr algn="ctr">
              <a:defRPr sz="2667">
                <a:solidFill>
                  <a:schemeClr val="tx1"/>
                </a:solidFill>
              </a:defRPr>
            </a:lvl2pPr>
            <a:lvl3pPr algn="ctr">
              <a:defRPr sz="2400">
                <a:solidFill>
                  <a:schemeClr val="tx1"/>
                </a:solidFill>
              </a:defRPr>
            </a:lvl3pPr>
            <a:lvl4pPr algn="ctr">
              <a:defRPr sz="2133">
                <a:solidFill>
                  <a:schemeClr val="tx1"/>
                </a:solidFill>
              </a:defRPr>
            </a:lvl4pPr>
            <a:lvl5pPr algn="ctr">
              <a:defRPr sz="2133">
                <a:solidFill>
                  <a:schemeClr val="tx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2513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3565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23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126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6011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432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7967" y="3101618"/>
            <a:ext cx="1951712" cy="7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2611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7763" y="2556387"/>
            <a:ext cx="10795813" cy="195662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878" y="4852220"/>
            <a:ext cx="10354809" cy="904568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00B0F0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218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93" y="171301"/>
            <a:ext cx="11012131" cy="101803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595" y="1573162"/>
            <a:ext cx="10972800" cy="4758813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765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484" y="581378"/>
            <a:ext cx="8741245" cy="967132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0684" y="1612488"/>
            <a:ext cx="8701549" cy="4678168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584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478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1219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260" y="185212"/>
            <a:ext cx="10791153" cy="1018033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840" y="2010711"/>
            <a:ext cx="5386917" cy="63976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840" y="2640574"/>
            <a:ext cx="5386917" cy="3035059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2" y="2010711"/>
            <a:ext cx="5389033" cy="639763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2" y="2640574"/>
            <a:ext cx="5389033" cy="3035059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6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922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434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670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507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029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7967" y="3101620"/>
            <a:ext cx="1951712" cy="7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336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7762" y="2556387"/>
            <a:ext cx="10795813" cy="195662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877" y="4852220"/>
            <a:ext cx="10354809" cy="904568"/>
          </a:xfrm>
        </p:spPr>
        <p:txBody>
          <a:bodyPr>
            <a:normAutofit/>
          </a:bodyPr>
          <a:lstStyle>
            <a:lvl1pPr marL="0" indent="0" algn="r">
              <a:buNone/>
              <a:defRPr sz="3733" b="0" i="0">
                <a:solidFill>
                  <a:srgbClr val="00B0F0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9547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92" y="171299"/>
            <a:ext cx="11012131" cy="1018035"/>
          </a:xfrm>
        </p:spPr>
        <p:txBody>
          <a:bodyPr>
            <a:normAutofit/>
          </a:bodyPr>
          <a:lstStyle>
            <a:lvl1pPr algn="r">
              <a:defRPr sz="48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595" y="1573162"/>
            <a:ext cx="10972800" cy="4758813"/>
          </a:xfrm>
        </p:spPr>
        <p:txBody>
          <a:bodyPr/>
          <a:lstStyle>
            <a:lvl1pPr algn="l">
              <a:defRPr sz="3733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6527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484" y="581378"/>
            <a:ext cx="8741245" cy="967132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0684" y="1612488"/>
            <a:ext cx="8701549" cy="4678168"/>
          </a:xfrm>
        </p:spPr>
        <p:txBody>
          <a:bodyPr/>
          <a:lstStyle>
            <a:lvl1pPr>
              <a:defRPr sz="3733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67190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5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9775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258" y="185210"/>
            <a:ext cx="10791153" cy="1018033"/>
          </a:xfrm>
        </p:spPr>
        <p:txBody>
          <a:bodyPr>
            <a:normAutofit/>
          </a:bodyPr>
          <a:lstStyle>
            <a:lvl1pPr algn="r">
              <a:defRPr sz="48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839" y="2010709"/>
            <a:ext cx="5386917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839" y="2640572"/>
            <a:ext cx="5386917" cy="3035059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</a:defRPr>
            </a:lvl1pPr>
            <a:lvl2pPr algn="ctr">
              <a:defRPr sz="2667">
                <a:solidFill>
                  <a:schemeClr val="tx1"/>
                </a:solidFill>
              </a:defRPr>
            </a:lvl2pPr>
            <a:lvl3pPr algn="ctr">
              <a:defRPr sz="2400">
                <a:solidFill>
                  <a:schemeClr val="tx1"/>
                </a:solidFill>
              </a:defRPr>
            </a:lvl3pPr>
            <a:lvl4pPr algn="ctr">
              <a:defRPr sz="2133">
                <a:solidFill>
                  <a:schemeClr val="tx1"/>
                </a:solidFill>
              </a:defRPr>
            </a:lvl4pPr>
            <a:lvl5pPr algn="ctr">
              <a:defRPr sz="2133">
                <a:solidFill>
                  <a:schemeClr val="tx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1" y="2010709"/>
            <a:ext cx="5389033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1" y="2640572"/>
            <a:ext cx="5389033" cy="3035059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</a:defRPr>
            </a:lvl1pPr>
            <a:lvl2pPr algn="ctr">
              <a:defRPr sz="2667">
                <a:solidFill>
                  <a:schemeClr val="tx1"/>
                </a:solidFill>
              </a:defRPr>
            </a:lvl2pPr>
            <a:lvl3pPr algn="ctr">
              <a:defRPr sz="2400">
                <a:solidFill>
                  <a:schemeClr val="tx1"/>
                </a:solidFill>
              </a:defRPr>
            </a:lvl3pPr>
            <a:lvl4pPr algn="ctr">
              <a:defRPr sz="2133">
                <a:solidFill>
                  <a:schemeClr val="tx1"/>
                </a:solidFill>
              </a:defRPr>
            </a:lvl4pPr>
            <a:lvl5pPr algn="ctr">
              <a:defRPr sz="2133">
                <a:solidFill>
                  <a:schemeClr val="tx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3277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0720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750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86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3557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1516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7967" y="3101618"/>
            <a:ext cx="1951712" cy="7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4394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86DC7-0FE5-4CB3-BDC1-9F471AE2B349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A243E-3BD4-4449-B689-FBCD69C47001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/>
        </p:nvSpPr>
        <p:spPr>
          <a:xfrm>
            <a:off x="-12200" y="6951663"/>
            <a:ext cx="11186167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867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260134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86DC7-0FE5-4CB3-BDC1-9F471AE2B349}" type="datetimeFigureOut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16.03.2026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A243E-3BD4-4449-B689-FBCD69C47001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/>
        </p:nvSpPr>
        <p:spPr>
          <a:xfrm>
            <a:off x="-12200" y="6951663"/>
            <a:ext cx="111861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presentation uses a free template provided by FPPT.com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706140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686DC7-0FE5-4CB3-BDC1-9F471AE2B349}" type="datetimeFigureOut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16.03.2026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5A243E-3BD4-4449-B689-FBCD69C47001}" type="slidenum">
              <a:rPr kumimoji="0" lang="ru-RU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ru-RU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/>
        </p:nvSpPr>
        <p:spPr>
          <a:xfrm>
            <a:off x="-12200" y="6951663"/>
            <a:ext cx="11186167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 presentation uses a free template provided by FPPT.com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2951456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  <p:sldLayoutId id="2147483995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E01ED165-8BE4-4E28-AA57-30332A0EBEA6}"/>
              </a:ext>
            </a:extLst>
          </p:cNvPr>
          <p:cNvSpPr/>
          <p:nvPr/>
        </p:nvSpPr>
        <p:spPr>
          <a:xfrm>
            <a:off x="5231904" y="1268760"/>
            <a:ext cx="4726029" cy="14086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673913" rtl="0" eaLnBrk="1" latinLnBrk="0" hangingPunct="1">
              <a:defRPr sz="132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336956" algn="l" defTabSz="673913" rtl="0" eaLnBrk="1" latinLnBrk="0" hangingPunct="1">
              <a:defRPr sz="132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673913" algn="l" defTabSz="673913" rtl="0" eaLnBrk="1" latinLnBrk="0" hangingPunct="1">
              <a:defRPr sz="132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10869" algn="l" defTabSz="673913" rtl="0" eaLnBrk="1" latinLnBrk="0" hangingPunct="1">
              <a:defRPr sz="132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47826" algn="l" defTabSz="673913" rtl="0" eaLnBrk="1" latinLnBrk="0" hangingPunct="1">
              <a:defRPr sz="132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84782" algn="l" defTabSz="673913" rtl="0" eaLnBrk="1" latinLnBrk="0" hangingPunct="1">
              <a:defRPr sz="132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021738" algn="l" defTabSz="673913" rtl="0" eaLnBrk="1" latinLnBrk="0" hangingPunct="1">
              <a:defRPr sz="132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358695" algn="l" defTabSz="673913" rtl="0" eaLnBrk="1" latinLnBrk="0" hangingPunct="1">
              <a:defRPr sz="132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695651" algn="l" defTabSz="673913" rtl="0" eaLnBrk="1" latinLnBrk="0" hangingPunct="1">
              <a:defRPr sz="1327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7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Section 1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29DCDC91-DC7E-4301-810E-9A00CD7FC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3752" y="3284984"/>
            <a:ext cx="7920880" cy="1721588"/>
          </a:xfrm>
        </p:spPr>
        <p:txBody>
          <a:bodyPr>
            <a:noAutofit/>
          </a:bodyPr>
          <a:lstStyle/>
          <a:p>
            <a:pPr algn="ctr"/>
            <a:r>
              <a:rPr lang="en-US" altLang="zh-CN" sz="6000" b="1" dirty="0">
                <a:solidFill>
                  <a:schemeClr val="bg1"/>
                </a:solidFill>
                <a:latin typeface="Candara" panose="020E0502030303020204" pitchFamily="34" charset="0"/>
                <a:ea typeface="Cambria" panose="02040503050406030204" pitchFamily="18" charset="0"/>
              </a:rPr>
              <a:t>Vocabulary: </a:t>
            </a:r>
            <a:br>
              <a:rPr lang="en-US" altLang="zh-CN" sz="6000" b="1" dirty="0">
                <a:solidFill>
                  <a:schemeClr val="bg1"/>
                </a:solidFill>
                <a:latin typeface="Candara" panose="020E0502030303020204" pitchFamily="34" charset="0"/>
                <a:ea typeface="Cambria" panose="02040503050406030204" pitchFamily="18" charset="0"/>
              </a:rPr>
            </a:br>
            <a:r>
              <a:rPr lang="en-US" altLang="zh-CN" sz="6000" b="1" dirty="0">
                <a:solidFill>
                  <a:schemeClr val="bg1"/>
                </a:solidFill>
                <a:latin typeface="Candara" panose="020E0502030303020204" pitchFamily="34" charset="0"/>
                <a:ea typeface="Cambria" panose="02040503050406030204" pitchFamily="18" charset="0"/>
              </a:rPr>
              <a:t>Economic issues</a:t>
            </a:r>
            <a:endParaRPr lang="zh-CN" altLang="en-US" sz="6000" b="1" dirty="0">
              <a:solidFill>
                <a:schemeClr val="bg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738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268760"/>
            <a:ext cx="12000656" cy="5544616"/>
          </a:xfrm>
        </p:spPr>
        <p:txBody>
          <a:bodyPr>
            <a:noAutofit/>
          </a:bodyPr>
          <a:lstStyle/>
          <a:p>
            <a:r>
              <a:rPr lang="en-US" altLang="zh-CN" sz="3600" b="1" dirty="0"/>
              <a:t>economy</a:t>
            </a:r>
            <a:r>
              <a:rPr lang="en-US" altLang="zh-CN" sz="3600" dirty="0"/>
              <a:t> [ɪˈkɒnəmɪ]: </a:t>
            </a:r>
            <a:r>
              <a:rPr lang="en-US" altLang="zh-CN" sz="3600" i="1" dirty="0"/>
              <a:t>n. </a:t>
            </a:r>
          </a:p>
          <a:p>
            <a:pPr>
              <a:buNone/>
            </a:pPr>
            <a:r>
              <a:rPr lang="en-US" altLang="zh-CN" sz="3600" dirty="0"/>
              <a:t>1. [C] the </a:t>
            </a:r>
            <a:r>
              <a:rPr lang="en-US" altLang="zh-CN" sz="3600" b="1" u="sng" dirty="0"/>
              <a:t>system</a:t>
            </a:r>
            <a:r>
              <a:rPr lang="en-US" altLang="zh-CN" sz="3600" dirty="0"/>
              <a:t> by which the trade, industry and money of a country or region are organized</a:t>
            </a:r>
          </a:p>
          <a:p>
            <a:pPr>
              <a:buNone/>
            </a:pPr>
            <a:r>
              <a:rPr lang="en-US" altLang="zh-CN" sz="3600" dirty="0"/>
              <a:t>     - </a:t>
            </a:r>
            <a:r>
              <a:rPr lang="en-US" altLang="zh-CN" sz="3600" i="1" dirty="0"/>
              <a:t>a market/planned/industrial </a:t>
            </a:r>
            <a:r>
              <a:rPr lang="en-US" altLang="zh-CN" sz="3600" i="1" dirty="0">
                <a:cs typeface="Calibri"/>
              </a:rPr>
              <a:t>economy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dirty="0"/>
              <a:t>2. [C] the </a:t>
            </a:r>
            <a:r>
              <a:rPr lang="en-US" altLang="zh-CN" sz="3600" b="1" u="sng" dirty="0"/>
              <a:t>wealth and resources</a:t>
            </a:r>
            <a:r>
              <a:rPr lang="en-US" altLang="zh-CN" sz="3600" dirty="0"/>
              <a:t> of a country or region, esp. in terms of the production and consumption of goods and services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dirty="0"/>
              <a:t>     - </a:t>
            </a:r>
            <a:r>
              <a:rPr lang="en-US" altLang="zh-CN" sz="3600" i="1" dirty="0"/>
              <a:t>The Chinese economy grows at an annual rate of 5 percent.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i="1" dirty="0"/>
              <a:t>     - The economy is beginning to revive.  </a:t>
            </a:r>
            <a:r>
              <a:rPr lang="en-US" altLang="zh-CN" sz="3600" dirty="0"/>
              <a:t>                 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02641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268760"/>
            <a:ext cx="11881320" cy="5544616"/>
          </a:xfrm>
        </p:spPr>
        <p:txBody>
          <a:bodyPr>
            <a:noAutofit/>
          </a:bodyPr>
          <a:lstStyle/>
          <a:p>
            <a:r>
              <a:rPr lang="en-US" altLang="zh-CN" sz="3600" b="1" dirty="0"/>
              <a:t>economy</a:t>
            </a:r>
            <a:r>
              <a:rPr lang="en-US" altLang="zh-CN" sz="3600" dirty="0"/>
              <a:t> [ɪˈkɒnəmɪ]: </a:t>
            </a:r>
            <a:r>
              <a:rPr lang="en-US" altLang="zh-CN" sz="3600" i="1" dirty="0"/>
              <a:t>n.</a:t>
            </a:r>
          </a:p>
          <a:p>
            <a:pPr>
              <a:buNone/>
            </a:pPr>
            <a:r>
              <a:rPr lang="en-US" altLang="zh-CN" sz="3600" dirty="0"/>
              <a:t>3. [C] </a:t>
            </a:r>
            <a:r>
              <a:rPr lang="en-US" altLang="zh-CN" sz="3600" b="1" dirty="0"/>
              <a:t>a </a:t>
            </a:r>
            <a:r>
              <a:rPr lang="en-US" altLang="zh-CN" sz="3600" b="1" u="sng" dirty="0"/>
              <a:t>country</a:t>
            </a:r>
            <a:r>
              <a:rPr lang="en-US" altLang="zh-CN" sz="3600" b="1" dirty="0"/>
              <a:t> </a:t>
            </a:r>
            <a:r>
              <a:rPr lang="en-US" altLang="zh-CN" sz="3600" dirty="0"/>
              <a:t>considered as an economic system</a:t>
            </a:r>
          </a:p>
          <a:p>
            <a:pPr>
              <a:buNone/>
            </a:pPr>
            <a:r>
              <a:rPr lang="en-US" altLang="zh-CN" sz="3600" dirty="0"/>
              <a:t>    - </a:t>
            </a:r>
            <a:r>
              <a:rPr lang="en-US" altLang="zh-CN" sz="3600" i="1" dirty="0"/>
              <a:t>one of the fastest-growing economies in Asia-Pacific region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600" dirty="0"/>
              <a:t>4. [U, C] the </a:t>
            </a:r>
            <a:r>
              <a:rPr lang="en-US" altLang="zh-CN" sz="3600" b="1" u="sng" dirty="0"/>
              <a:t>careful use</a:t>
            </a:r>
            <a:r>
              <a:rPr lang="en-US" altLang="zh-CN" sz="3600" u="sng" dirty="0"/>
              <a:t> </a:t>
            </a:r>
            <a:r>
              <a:rPr lang="en-US" altLang="zh-CN" sz="3600" dirty="0"/>
              <a:t>of money, time, etc. so that very little is wasted</a:t>
            </a:r>
          </a:p>
          <a:p>
            <a:pPr>
              <a:buNone/>
            </a:pPr>
            <a:r>
              <a:rPr lang="en-US" altLang="zh-CN" sz="3600" dirty="0"/>
              <a:t>    - </a:t>
            </a:r>
            <a:r>
              <a:rPr lang="en-US" altLang="zh-CN" sz="3600" i="1" dirty="0"/>
              <a:t>They’ve had to make economies since he lost his job.</a:t>
            </a:r>
          </a:p>
          <a:p>
            <a:pPr>
              <a:buNone/>
            </a:pPr>
            <a:r>
              <a:rPr lang="en-US" altLang="zh-CN" sz="3600" dirty="0"/>
              <a:t>    - </a:t>
            </a:r>
            <a:r>
              <a:rPr lang="en-US" altLang="zh-CN" sz="3600" i="1" dirty="0"/>
              <a:t>There are great improvements in the fuel economy of cars.</a:t>
            </a:r>
          </a:p>
        </p:txBody>
      </p:sp>
    </p:spTree>
    <p:extLst>
      <p:ext uri="{BB962C8B-B14F-4D97-AF65-F5344CB8AC3E}">
        <p14:creationId xmlns:p14="http://schemas.microsoft.com/office/powerpoint/2010/main" val="4173436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268760"/>
            <a:ext cx="11881320" cy="5544616"/>
          </a:xfrm>
        </p:spPr>
        <p:txBody>
          <a:bodyPr>
            <a:noAutofit/>
          </a:bodyPr>
          <a:lstStyle/>
          <a:p>
            <a:r>
              <a:rPr lang="en-US" altLang="zh-CN" sz="3600" b="1" dirty="0"/>
              <a:t>economy</a:t>
            </a:r>
            <a:r>
              <a:rPr lang="en-US" altLang="zh-CN" sz="3600" dirty="0"/>
              <a:t> [ɪˈkɒnəmɪ]: </a:t>
            </a:r>
            <a:r>
              <a:rPr lang="en-US" altLang="zh-CN" sz="3600" i="1" dirty="0"/>
              <a:t>n.</a:t>
            </a:r>
          </a:p>
          <a:p>
            <a:pPr>
              <a:buNone/>
            </a:pPr>
            <a:r>
              <a:rPr lang="en-US" altLang="zh-CN" sz="3600" dirty="0"/>
              <a:t>5. (*</a:t>
            </a:r>
            <a:r>
              <a:rPr lang="en-US" altLang="zh-CN" sz="3600" i="1" dirty="0" err="1"/>
              <a:t>attrib</a:t>
            </a:r>
            <a:r>
              <a:rPr lang="en-US" altLang="zh-CN" sz="3600" i="1" dirty="0"/>
              <a:t> </a:t>
            </a:r>
            <a:r>
              <a:rPr lang="zh-CN" altLang="en-US" sz="3200" dirty="0"/>
              <a:t>做定语</a:t>
            </a:r>
            <a:r>
              <a:rPr lang="en-US" altLang="zh-CN" sz="3600" dirty="0"/>
              <a:t>) inexpensive to buy or use</a:t>
            </a:r>
          </a:p>
          <a:p>
            <a:pPr>
              <a:buNone/>
            </a:pPr>
            <a:r>
              <a:rPr lang="en-US" altLang="zh-CN" sz="3600" dirty="0"/>
              <a:t>     - </a:t>
            </a:r>
            <a:r>
              <a:rPr lang="en-US" altLang="zh-CN" sz="3600" i="1" dirty="0"/>
              <a:t>economy class </a:t>
            </a:r>
            <a:r>
              <a:rPr lang="en-US" altLang="zh-CN" sz="3600" dirty="0"/>
              <a:t>[U]</a:t>
            </a:r>
          </a:p>
          <a:p>
            <a:pPr>
              <a:buNone/>
            </a:pPr>
            <a:r>
              <a:rPr lang="en-US" altLang="zh-CN" sz="3600" i="1" dirty="0"/>
              <a:t>     - an economy pack/size</a:t>
            </a:r>
          </a:p>
          <a:p>
            <a:pPr>
              <a:buNone/>
            </a:pPr>
            <a:r>
              <a:rPr lang="en-US" altLang="zh-CN" sz="3600" i="1" dirty="0"/>
              <a:t>     - an economy car</a:t>
            </a:r>
            <a:endParaRPr lang="en-US" altLang="zh-CN" sz="3600" dirty="0"/>
          </a:p>
        </p:txBody>
      </p:sp>
    </p:spTree>
    <p:extLst>
      <p:ext uri="{BB962C8B-B14F-4D97-AF65-F5344CB8AC3E}">
        <p14:creationId xmlns:p14="http://schemas.microsoft.com/office/powerpoint/2010/main" val="45046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268760"/>
            <a:ext cx="11881320" cy="5544616"/>
          </a:xfrm>
        </p:spPr>
        <p:txBody>
          <a:bodyPr>
            <a:noAutofit/>
          </a:bodyPr>
          <a:lstStyle/>
          <a:p>
            <a:r>
              <a:rPr lang="en-US" altLang="zh-CN" sz="3600" b="1" dirty="0"/>
              <a:t>economic</a:t>
            </a:r>
            <a:r>
              <a:rPr lang="en-US" altLang="zh-CN" sz="3600" dirty="0"/>
              <a:t> [ˌ</a:t>
            </a:r>
            <a:r>
              <a:rPr lang="en-US" altLang="zh-CN" sz="3600" dirty="0" err="1"/>
              <a:t>iːkəˈnɒmɪk</a:t>
            </a:r>
            <a:r>
              <a:rPr lang="en-US" altLang="zh-CN" sz="3600" dirty="0"/>
              <a:t>]: </a:t>
            </a:r>
            <a:r>
              <a:rPr lang="en-US" altLang="zh-CN" sz="3600" i="1" dirty="0"/>
              <a:t>adj.</a:t>
            </a:r>
          </a:p>
          <a:p>
            <a:pPr>
              <a:buNone/>
            </a:pPr>
            <a:r>
              <a:rPr lang="en-US" altLang="zh-CN" sz="3600" dirty="0"/>
              <a:t>1. [</a:t>
            </a:r>
            <a:r>
              <a:rPr lang="en-US" altLang="zh-CN" sz="3600" u="sng" dirty="0"/>
              <a:t>only before noun</a:t>
            </a:r>
            <a:r>
              <a:rPr lang="en-US" altLang="zh-CN" sz="3600" dirty="0"/>
              <a:t>] connected with the trade, industry and development of a country, region or society.</a:t>
            </a:r>
          </a:p>
          <a:p>
            <a:pPr>
              <a:buNone/>
            </a:pPr>
            <a:r>
              <a:rPr lang="en-US" altLang="zh-CN" sz="3600" dirty="0"/>
              <a:t>     - </a:t>
            </a:r>
            <a:r>
              <a:rPr lang="en-US" altLang="zh-CN" sz="3600" i="1" dirty="0"/>
              <a:t>economic reform/growth/policy/benefit</a:t>
            </a:r>
          </a:p>
          <a:p>
            <a:pPr>
              <a:buNone/>
            </a:pPr>
            <a:r>
              <a:rPr lang="en-US" altLang="zh-CN" sz="3600" dirty="0"/>
              <a:t>2. making a profit, or likely to make a profit </a:t>
            </a:r>
            <a:r>
              <a:rPr lang="zh-CN" altLang="en-US" sz="3200" dirty="0"/>
              <a:t>盈利的</a:t>
            </a:r>
            <a:r>
              <a:rPr lang="en-US" altLang="zh-CN" sz="3200" dirty="0"/>
              <a:t>, </a:t>
            </a:r>
            <a:r>
              <a:rPr lang="zh-CN" altLang="en-US" sz="3200" dirty="0"/>
              <a:t>有利可图的</a:t>
            </a:r>
            <a:endParaRPr lang="en-US" altLang="zh-CN" sz="3200" dirty="0"/>
          </a:p>
          <a:p>
            <a:pPr>
              <a:buNone/>
            </a:pPr>
            <a:r>
              <a:rPr lang="en-US" altLang="zh-CN" sz="3600" dirty="0">
                <a:sym typeface="Wingdings 2"/>
              </a:rPr>
              <a:t>     ≈ </a:t>
            </a:r>
            <a:r>
              <a:rPr lang="en-US" altLang="zh-CN" sz="3600" u="sng" dirty="0">
                <a:sym typeface="Wingdings 2"/>
              </a:rPr>
              <a:t>profitable</a:t>
            </a:r>
          </a:p>
          <a:p>
            <a:pPr>
              <a:buNone/>
            </a:pPr>
            <a:r>
              <a:rPr lang="en-US" altLang="zh-CN" sz="3600" dirty="0">
                <a:sym typeface="Wingdings 2"/>
              </a:rPr>
              <a:t></a:t>
            </a:r>
            <a:r>
              <a:rPr lang="en-US" altLang="zh-CN" sz="3600" dirty="0">
                <a:sym typeface="Wingdings"/>
              </a:rPr>
              <a:t> </a:t>
            </a:r>
            <a:r>
              <a:rPr lang="en-US" altLang="zh-CN" sz="3600" b="1" dirty="0">
                <a:sym typeface="Wingdings"/>
              </a:rPr>
              <a:t>economically </a:t>
            </a:r>
            <a:r>
              <a:rPr lang="en-US" altLang="zh-CN" sz="3600" dirty="0">
                <a:sym typeface="Wingdings"/>
              </a:rPr>
              <a:t>[ˌ</a:t>
            </a:r>
            <a:r>
              <a:rPr lang="en-US" altLang="zh-CN" sz="3600" dirty="0" err="1">
                <a:sym typeface="Wingdings"/>
              </a:rPr>
              <a:t>iːkəˈnɒmɪkli</a:t>
            </a:r>
            <a:r>
              <a:rPr lang="en-US" altLang="zh-CN" sz="3600" dirty="0">
                <a:sym typeface="Wingdings"/>
              </a:rPr>
              <a:t>]: </a:t>
            </a:r>
            <a:r>
              <a:rPr lang="en-US" altLang="zh-CN" sz="3600" i="1" dirty="0">
                <a:sym typeface="Wingdings"/>
              </a:rPr>
              <a:t>adv. </a:t>
            </a:r>
          </a:p>
          <a:p>
            <a:pPr>
              <a:buNone/>
            </a:pPr>
            <a:r>
              <a:rPr lang="zh-CN" altLang="en-US" sz="3600" dirty="0">
                <a:sym typeface="Wingdings"/>
              </a:rPr>
              <a:t>     </a:t>
            </a:r>
            <a:r>
              <a:rPr lang="zh-CN" altLang="en-US" sz="3200" dirty="0">
                <a:sym typeface="Wingdings"/>
              </a:rPr>
              <a:t>经济地，在经济上</a:t>
            </a:r>
            <a:endParaRPr lang="en-US" altLang="zh-CN" sz="3200" dirty="0">
              <a:sym typeface="Wingdings 2"/>
            </a:endParaRPr>
          </a:p>
        </p:txBody>
      </p:sp>
    </p:spTree>
    <p:extLst>
      <p:ext uri="{BB962C8B-B14F-4D97-AF65-F5344CB8AC3E}">
        <p14:creationId xmlns:p14="http://schemas.microsoft.com/office/powerpoint/2010/main" val="250003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268760"/>
            <a:ext cx="11881320" cy="5400600"/>
          </a:xfrm>
        </p:spPr>
        <p:txBody>
          <a:bodyPr>
            <a:noAutofit/>
          </a:bodyPr>
          <a:lstStyle/>
          <a:p>
            <a:r>
              <a:rPr lang="en-US" altLang="zh-CN" sz="3600" b="1" dirty="0"/>
              <a:t>economical</a:t>
            </a:r>
            <a:r>
              <a:rPr lang="en-US" altLang="zh-CN" sz="3600" dirty="0"/>
              <a:t> [ˌ</a:t>
            </a:r>
            <a:r>
              <a:rPr lang="en-US" altLang="zh-CN" sz="3600" dirty="0" err="1"/>
              <a:t>iːkəˈnɒmɪkəl</a:t>
            </a:r>
            <a:r>
              <a:rPr lang="en-US" altLang="zh-CN" sz="3600" dirty="0"/>
              <a:t>]: </a:t>
            </a:r>
            <a:r>
              <a:rPr lang="en-US" altLang="zh-CN" sz="3600" i="1" dirty="0"/>
              <a:t>adj.</a:t>
            </a:r>
          </a:p>
          <a:p>
            <a:pPr>
              <a:buNone/>
            </a:pPr>
            <a:r>
              <a:rPr lang="en-US" altLang="zh-CN" sz="3600" dirty="0"/>
              <a:t>    </a:t>
            </a:r>
            <a:r>
              <a:rPr lang="en-US" altLang="zh-CN" sz="3600" dirty="0">
                <a:solidFill>
                  <a:prstClr val="black"/>
                </a:solidFill>
                <a:sym typeface="Wingdings" panose="05000000000000000000" pitchFamily="2" charset="2"/>
              </a:rPr>
              <a:t></a:t>
            </a:r>
            <a:r>
              <a:rPr lang="en-US" altLang="zh-CN" sz="3600" dirty="0">
                <a:solidFill>
                  <a:prstClr val="black"/>
                </a:solidFill>
                <a:sym typeface="Wingdings"/>
              </a:rPr>
              <a:t> </a:t>
            </a:r>
            <a:r>
              <a:rPr lang="en-US" altLang="zh-CN" sz="3600" dirty="0"/>
              <a:t>not spending or costing much money; not wasteful </a:t>
            </a:r>
          </a:p>
          <a:p>
            <a:pPr>
              <a:buNone/>
            </a:pPr>
            <a:r>
              <a:rPr lang="en-US" altLang="zh-CN" sz="3600" dirty="0">
                <a:sym typeface="Wingdings 2"/>
              </a:rPr>
              <a:t>       </a:t>
            </a:r>
            <a:r>
              <a:rPr lang="zh-CN" altLang="en-US" sz="3200" dirty="0">
                <a:sym typeface="Wingdings 2"/>
              </a:rPr>
              <a:t>经济实惠的，节俭的，节约的</a:t>
            </a:r>
            <a:endParaRPr lang="en-US" altLang="zh-CN" sz="3200" dirty="0">
              <a:sym typeface="Wingdings 2"/>
            </a:endParaRPr>
          </a:p>
          <a:p>
            <a:pPr>
              <a:buNone/>
            </a:pPr>
            <a:r>
              <a:rPr lang="en-US" altLang="zh-CN" sz="3600" dirty="0">
                <a:sym typeface="Wingdings 2"/>
              </a:rPr>
              <a:t>  - </a:t>
            </a:r>
            <a:r>
              <a:rPr lang="en-US" altLang="zh-CN" sz="3600" i="1" dirty="0">
                <a:sym typeface="Wingdings 2"/>
              </a:rPr>
              <a:t>Electric vehicles are clean, quiet, and economical.</a:t>
            </a:r>
          </a:p>
          <a:p>
            <a:pPr>
              <a:buNone/>
            </a:pPr>
            <a:r>
              <a:rPr lang="en-US" altLang="zh-CN" sz="3600" dirty="0">
                <a:sym typeface="Wingdings 2"/>
              </a:rPr>
              <a:t>  - </a:t>
            </a:r>
            <a:r>
              <a:rPr lang="en-US" altLang="zh-CN" sz="3600" i="1" dirty="0">
                <a:sym typeface="Wingdings 2"/>
              </a:rPr>
              <a:t>Buying in bulk is more economical than shopping for small quantities.</a:t>
            </a:r>
          </a:p>
          <a:p>
            <a:pPr>
              <a:buNone/>
            </a:pPr>
            <a:r>
              <a:rPr lang="en-US" altLang="zh-CN" sz="3600" dirty="0">
                <a:sym typeface="Wingdings 2"/>
              </a:rPr>
              <a:t></a:t>
            </a:r>
            <a:r>
              <a:rPr lang="en-US" altLang="zh-CN" sz="3600" dirty="0">
                <a:sym typeface="Wingdings"/>
              </a:rPr>
              <a:t> </a:t>
            </a:r>
            <a:r>
              <a:rPr lang="en-US" altLang="zh-CN" sz="3600" b="1" dirty="0">
                <a:sym typeface="Wingdings"/>
              </a:rPr>
              <a:t>economically</a:t>
            </a:r>
            <a:r>
              <a:rPr lang="en-US" altLang="zh-CN" sz="3600" dirty="0">
                <a:sym typeface="Wingdings"/>
              </a:rPr>
              <a:t>: </a:t>
            </a:r>
            <a:r>
              <a:rPr lang="en-US" altLang="zh-CN" sz="3600" i="1" dirty="0">
                <a:sym typeface="Wingdings"/>
              </a:rPr>
              <a:t>adv.</a:t>
            </a:r>
          </a:p>
          <a:p>
            <a:pPr>
              <a:buNone/>
            </a:pPr>
            <a:r>
              <a:rPr lang="en-US" altLang="zh-CN" sz="3600" i="1" dirty="0"/>
              <a:t>     </a:t>
            </a:r>
            <a:r>
              <a:rPr lang="zh-CN" altLang="en-US" sz="3200" dirty="0">
                <a:solidFill>
                  <a:prstClr val="black"/>
                </a:solidFill>
                <a:sym typeface="Wingdings"/>
              </a:rPr>
              <a:t>经济地，节俭地，节约地</a:t>
            </a:r>
            <a:endParaRPr lang="en-US" altLang="zh-CN" sz="3600" i="1" dirty="0"/>
          </a:p>
        </p:txBody>
      </p:sp>
    </p:spTree>
    <p:extLst>
      <p:ext uri="{BB962C8B-B14F-4D97-AF65-F5344CB8AC3E}">
        <p14:creationId xmlns:p14="http://schemas.microsoft.com/office/powerpoint/2010/main" val="2511732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412776"/>
            <a:ext cx="11809312" cy="5400600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solidFill>
                  <a:prstClr val="black"/>
                </a:solidFill>
                <a:sym typeface="Wingdings 2"/>
              </a:rPr>
              <a:t>economics </a:t>
            </a:r>
            <a:r>
              <a:rPr lang="en-US" altLang="zh-CN" sz="3600" dirty="0">
                <a:solidFill>
                  <a:prstClr val="black"/>
                </a:solidFill>
              </a:rPr>
              <a:t>[ˌ</a:t>
            </a:r>
            <a:r>
              <a:rPr lang="en-US" altLang="zh-CN" sz="3600" dirty="0" err="1">
                <a:solidFill>
                  <a:prstClr val="black"/>
                </a:solidFill>
              </a:rPr>
              <a:t>iːkəˈnɒmɪks</a:t>
            </a:r>
            <a:r>
              <a:rPr lang="en-US" altLang="zh-CN" sz="3600" dirty="0">
                <a:solidFill>
                  <a:prstClr val="black"/>
                </a:solidFill>
              </a:rPr>
              <a:t>]: [U]</a:t>
            </a:r>
          </a:p>
          <a:p>
            <a:pPr marL="432000" indent="-457200">
              <a:buNone/>
            </a:pPr>
            <a:r>
              <a:rPr lang="en-US" altLang="zh-CN" sz="3600" dirty="0">
                <a:solidFill>
                  <a:prstClr val="black"/>
                </a:solidFill>
                <a:sym typeface="Wingdings" panose="05000000000000000000" pitchFamily="2" charset="2"/>
              </a:rPr>
              <a:t>1.</a:t>
            </a:r>
            <a:r>
              <a:rPr lang="en-US" altLang="zh-CN" sz="3600" dirty="0">
                <a:solidFill>
                  <a:prstClr val="black"/>
                </a:solidFill>
              </a:rPr>
              <a:t> (a) the study of how a society organizes its money, trade and industry; </a:t>
            </a:r>
          </a:p>
          <a:p>
            <a:pPr marL="432000" indent="-457200">
              <a:buNone/>
            </a:pPr>
            <a:r>
              <a:rPr lang="en-US" altLang="zh-CN" sz="3600" dirty="0">
                <a:solidFill>
                  <a:prstClr val="black"/>
                </a:solidFill>
              </a:rPr>
              <a:t>    (b) economic theory, principles, or practices</a:t>
            </a:r>
          </a:p>
        </p:txBody>
      </p:sp>
    </p:spTree>
    <p:extLst>
      <p:ext uri="{BB962C8B-B14F-4D97-AF65-F5344CB8AC3E}">
        <p14:creationId xmlns:p14="http://schemas.microsoft.com/office/powerpoint/2010/main" val="1842085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412776"/>
            <a:ext cx="11881320" cy="5400600"/>
          </a:xfrm>
        </p:spPr>
        <p:txBody>
          <a:bodyPr>
            <a:noAutofit/>
          </a:bodyPr>
          <a:lstStyle/>
          <a:p>
            <a:pPr lvl="0"/>
            <a:r>
              <a:rPr lang="en-US" altLang="zh-CN" sz="3600" b="1" dirty="0">
                <a:solidFill>
                  <a:prstClr val="black"/>
                </a:solidFill>
              </a:rPr>
              <a:t>economist</a:t>
            </a:r>
            <a:r>
              <a:rPr lang="en-US" altLang="zh-CN" sz="3600" dirty="0">
                <a:solidFill>
                  <a:prstClr val="black"/>
                </a:solidFill>
              </a:rPr>
              <a:t> [</a:t>
            </a:r>
            <a:r>
              <a:rPr lang="en-US" altLang="zh-CN" sz="3600" dirty="0" err="1">
                <a:solidFill>
                  <a:prstClr val="black"/>
                </a:solidFill>
              </a:rPr>
              <a:t>ɪˈkɒnəmɪst</a:t>
            </a:r>
            <a:r>
              <a:rPr lang="en-US" altLang="zh-CN" sz="3600" dirty="0">
                <a:solidFill>
                  <a:prstClr val="black"/>
                </a:solidFill>
              </a:rPr>
              <a:t>]: [C]</a:t>
            </a:r>
            <a:endParaRPr lang="en-US" altLang="zh-CN" sz="3600" i="1" dirty="0">
              <a:solidFill>
                <a:prstClr val="black"/>
              </a:solidFill>
            </a:endParaRPr>
          </a:p>
          <a:p>
            <a:pPr lvl="0">
              <a:buNone/>
            </a:pPr>
            <a:r>
              <a:rPr lang="en-US" altLang="zh-CN" sz="3600" dirty="0">
                <a:solidFill>
                  <a:prstClr val="black"/>
                </a:solidFill>
              </a:rPr>
              <a:t>     </a:t>
            </a:r>
            <a:r>
              <a:rPr lang="en-US" altLang="zh-CN" sz="3600" dirty="0">
                <a:solidFill>
                  <a:prstClr val="black"/>
                </a:solidFill>
                <a:sym typeface="Wingdings" panose="05000000000000000000" pitchFamily="2" charset="2"/>
              </a:rPr>
              <a:t> </a:t>
            </a:r>
            <a:r>
              <a:rPr lang="en-US" altLang="zh-CN" sz="3600" dirty="0">
                <a:solidFill>
                  <a:prstClr val="black"/>
                </a:solidFill>
              </a:rPr>
              <a:t>a person who studies, teaches, or writes about economics</a:t>
            </a:r>
          </a:p>
        </p:txBody>
      </p:sp>
    </p:spTree>
    <p:extLst>
      <p:ext uri="{BB962C8B-B14F-4D97-AF65-F5344CB8AC3E}">
        <p14:creationId xmlns:p14="http://schemas.microsoft.com/office/powerpoint/2010/main" val="346838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1344" y="1412776"/>
            <a:ext cx="11881320" cy="5400600"/>
          </a:xfrm>
        </p:spPr>
        <p:txBody>
          <a:bodyPr>
            <a:noAutofit/>
          </a:bodyPr>
          <a:lstStyle/>
          <a:p>
            <a:r>
              <a:rPr lang="en-US" altLang="zh-CN" sz="3600" b="1" dirty="0">
                <a:solidFill>
                  <a:prstClr val="black"/>
                </a:solidFill>
                <a:sym typeface="Wingdings 2"/>
              </a:rPr>
              <a:t>economize</a:t>
            </a:r>
            <a:r>
              <a:rPr lang="en-US" altLang="zh-CN" sz="3600" dirty="0">
                <a:solidFill>
                  <a:prstClr val="black"/>
                </a:solidFill>
                <a:sym typeface="Wingdings 2"/>
              </a:rPr>
              <a:t>/</a:t>
            </a:r>
            <a:r>
              <a:rPr lang="en-US" altLang="zh-CN" sz="3600" b="1" dirty="0">
                <a:solidFill>
                  <a:prstClr val="black"/>
                </a:solidFill>
                <a:sym typeface="Wingdings 2"/>
              </a:rPr>
              <a:t>economise </a:t>
            </a:r>
            <a:r>
              <a:rPr lang="en-US" altLang="zh-CN" sz="3600" dirty="0">
                <a:solidFill>
                  <a:prstClr val="black"/>
                </a:solidFill>
              </a:rPr>
              <a:t>[</a:t>
            </a:r>
            <a:r>
              <a:rPr lang="en-US" altLang="zh-CN" sz="3600" dirty="0" err="1">
                <a:solidFill>
                  <a:prstClr val="black"/>
                </a:solidFill>
              </a:rPr>
              <a:t>ɪˈkɒnəˌmaɪz</a:t>
            </a:r>
            <a:r>
              <a:rPr lang="en-US" altLang="zh-CN" sz="3600" dirty="0">
                <a:solidFill>
                  <a:prstClr val="black"/>
                </a:solidFill>
              </a:rPr>
              <a:t>]: </a:t>
            </a:r>
            <a:r>
              <a:rPr lang="en-US" altLang="zh-CN" sz="3600" i="1" dirty="0">
                <a:solidFill>
                  <a:prstClr val="black"/>
                </a:solidFill>
              </a:rPr>
              <a:t>vi.</a:t>
            </a:r>
          </a:p>
          <a:p>
            <a:pPr marL="432000" indent="-457200">
              <a:buNone/>
            </a:pPr>
            <a:r>
              <a:rPr lang="en-US" altLang="zh-CN" sz="3600" dirty="0">
                <a:solidFill>
                  <a:prstClr val="black"/>
                </a:solidFill>
              </a:rPr>
              <a:t>    </a:t>
            </a:r>
            <a:r>
              <a:rPr lang="en-US" altLang="zh-CN" sz="3600" dirty="0">
                <a:solidFill>
                  <a:prstClr val="black"/>
                </a:solidFill>
                <a:sym typeface="Wingdings" panose="05000000000000000000" pitchFamily="2" charset="2"/>
              </a:rPr>
              <a:t> </a:t>
            </a:r>
            <a:r>
              <a:rPr lang="en-US" altLang="zh-CN" sz="3600" dirty="0">
                <a:solidFill>
                  <a:prstClr val="black"/>
                </a:solidFill>
              </a:rPr>
              <a:t>to make an effort to save money, time, resources, etc.</a:t>
            </a:r>
          </a:p>
          <a:p>
            <a:pPr marL="432000" indent="-457200">
              <a:buNone/>
            </a:pPr>
            <a:r>
              <a:rPr lang="en-US" altLang="zh-CN" sz="3600" dirty="0">
                <a:solidFill>
                  <a:prstClr val="black"/>
                </a:solidFill>
              </a:rPr>
              <a:t>  - </a:t>
            </a:r>
            <a:r>
              <a:rPr lang="en-US" altLang="zh-CN" sz="3600" i="1" dirty="0">
                <a:solidFill>
                  <a:prstClr val="black"/>
                </a:solidFill>
              </a:rPr>
              <a:t>We must economize on water.</a:t>
            </a:r>
          </a:p>
          <a:p>
            <a:pPr marL="432000" indent="-457200">
              <a:buNone/>
            </a:pPr>
            <a:r>
              <a:rPr lang="en-US" altLang="zh-CN" sz="3600" dirty="0">
                <a:solidFill>
                  <a:prstClr val="black"/>
                </a:solidFill>
              </a:rPr>
              <a:t>  - </a:t>
            </a:r>
            <a:r>
              <a:rPr lang="en-US" altLang="zh-CN" sz="3600" i="1" dirty="0">
                <a:solidFill>
                  <a:prstClr val="black"/>
                </a:solidFill>
              </a:rPr>
              <a:t>A lot of companies are trying to economize by not taking on new staff.</a:t>
            </a:r>
          </a:p>
        </p:txBody>
      </p:sp>
    </p:spTree>
    <p:extLst>
      <p:ext uri="{BB962C8B-B14F-4D97-AF65-F5344CB8AC3E}">
        <p14:creationId xmlns:p14="http://schemas.microsoft.com/office/powerpoint/2010/main" val="418731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 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412776"/>
            <a:ext cx="11377264" cy="5445224"/>
          </a:xfrm>
        </p:spPr>
        <p:txBody>
          <a:bodyPr>
            <a:noAutofit/>
          </a:bodyPr>
          <a:lstStyle/>
          <a:p>
            <a:pPr marL="432000" indent="-432000"/>
            <a:r>
              <a:rPr lang="en-US" altLang="zh-CN" sz="3600" b="1" dirty="0"/>
              <a:t>cost of living</a:t>
            </a:r>
          </a:p>
          <a:p>
            <a:pPr marL="0" indent="0">
              <a:buNone/>
            </a:pPr>
            <a:r>
              <a:rPr lang="en-US" altLang="zh-CN" sz="3600" b="1" dirty="0"/>
              <a:t>    </a:t>
            </a:r>
            <a:r>
              <a:rPr lang="en-US" altLang="zh-CN" sz="3600" dirty="0">
                <a:sym typeface="Wingdings 2" panose="05020102010507070707" pitchFamily="18" charset="2"/>
              </a:rPr>
              <a:t>-</a:t>
            </a:r>
            <a:r>
              <a:rPr lang="en-US" altLang="zh-CN" sz="3600" b="1" dirty="0">
                <a:sym typeface="Wingdings 2" panose="05020102010507070707" pitchFamily="18" charset="2"/>
              </a:rPr>
              <a:t> standard of living</a:t>
            </a:r>
            <a:endParaRPr lang="en-US" altLang="zh-CN" sz="3600" b="1" dirty="0"/>
          </a:p>
          <a:p>
            <a:pPr marL="432000" indent="-432000"/>
            <a:r>
              <a:rPr lang="en-US" altLang="zh-CN" sz="3600" b="1" dirty="0"/>
              <a:t>income</a:t>
            </a:r>
            <a:r>
              <a:rPr lang="en-US" altLang="zh-CN" sz="3600" dirty="0"/>
              <a:t>: money that a person, an organization, a country, etc. earns from work, investments or business, etc.</a:t>
            </a:r>
          </a:p>
          <a:p>
            <a:pPr marL="432000" indent="-432000"/>
            <a:r>
              <a:rPr lang="en-US" altLang="zh-CN" sz="3600" b="1" dirty="0"/>
              <a:t>revenue</a:t>
            </a:r>
            <a:r>
              <a:rPr lang="en-US" altLang="zh-CN" sz="3600" dirty="0"/>
              <a:t>: money that a government receives from taxes or that an organization receives from its business</a:t>
            </a:r>
          </a:p>
          <a:p>
            <a:pPr marL="0" indent="0">
              <a:buNone/>
            </a:pPr>
            <a:r>
              <a:rPr lang="en-US" altLang="zh-CN" sz="3600" dirty="0"/>
              <a:t>    </a:t>
            </a:r>
            <a:r>
              <a:rPr lang="en-US" altLang="zh-CN" sz="3600" dirty="0">
                <a:sym typeface="Wingdings 2" panose="05020102010507070707" pitchFamily="18" charset="2"/>
              </a:rPr>
              <a:t> </a:t>
            </a:r>
            <a:r>
              <a:rPr lang="en-US" altLang="zh-CN" sz="3600" i="1" dirty="0">
                <a:sym typeface="Wingdings 2" panose="05020102010507070707" pitchFamily="18" charset="2"/>
              </a:rPr>
              <a:t>in business, incomes = revenues – costs/expenses</a:t>
            </a:r>
            <a:endParaRPr lang="en-US" altLang="zh-CN" sz="3600" i="1" dirty="0"/>
          </a:p>
        </p:txBody>
      </p:sp>
    </p:spTree>
    <p:extLst>
      <p:ext uri="{BB962C8B-B14F-4D97-AF65-F5344CB8AC3E}">
        <p14:creationId xmlns:p14="http://schemas.microsoft.com/office/powerpoint/2010/main" val="3958359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412776"/>
            <a:ext cx="10945216" cy="5328592"/>
          </a:xfrm>
        </p:spPr>
        <p:txBody>
          <a:bodyPr>
            <a:noAutofit/>
          </a:bodyPr>
          <a:lstStyle/>
          <a:p>
            <a:pPr marL="324000" indent="-324000"/>
            <a:r>
              <a:rPr lang="en-US" altLang="zh-CN" sz="3600" b="1" dirty="0"/>
              <a:t>job market</a:t>
            </a:r>
            <a:r>
              <a:rPr lang="en-US" altLang="zh-CN" sz="3600" dirty="0"/>
              <a:t>/</a:t>
            </a:r>
            <a:r>
              <a:rPr lang="en-US" altLang="zh-CN" sz="3600" b="1" dirty="0" err="1"/>
              <a:t>labour</a:t>
            </a:r>
            <a:r>
              <a:rPr lang="en-US" altLang="zh-CN" sz="3600" b="1" dirty="0"/>
              <a:t> market</a:t>
            </a:r>
          </a:p>
          <a:p>
            <a:pPr marL="324000" indent="-324000"/>
            <a:r>
              <a:rPr lang="en-US" altLang="zh-CN" sz="3600" b="1" dirty="0"/>
              <a:t>consumer confidence</a:t>
            </a:r>
          </a:p>
          <a:p>
            <a:pPr marL="324000" indent="-324000"/>
            <a:r>
              <a:rPr lang="en-US" altLang="zh-CN" sz="3600" b="1" dirty="0"/>
              <a:t>public</a:t>
            </a:r>
            <a:r>
              <a:rPr lang="en-US" altLang="zh-CN" sz="3600" dirty="0"/>
              <a:t>/</a:t>
            </a:r>
            <a:r>
              <a:rPr lang="en-US" altLang="zh-CN" sz="3600" b="1" dirty="0"/>
              <a:t>private sector</a:t>
            </a:r>
            <a:endParaRPr lang="en-US" altLang="zh-CN" sz="3600" dirty="0"/>
          </a:p>
          <a:p>
            <a:pPr marL="0" indent="0">
              <a:buNone/>
            </a:pPr>
            <a:r>
              <a:rPr lang="en-US" altLang="zh-CN" sz="3600" b="1" dirty="0"/>
              <a:t>    - industrial</a:t>
            </a:r>
            <a:r>
              <a:rPr lang="en-US" altLang="zh-CN" sz="3600" dirty="0"/>
              <a:t>/</a:t>
            </a:r>
            <a:r>
              <a:rPr lang="en-US" altLang="zh-CN" sz="3600" b="1" dirty="0"/>
              <a:t>economic sector</a:t>
            </a:r>
          </a:p>
          <a:p>
            <a:pPr marL="0" indent="0">
              <a:buNone/>
            </a:pPr>
            <a:r>
              <a:rPr lang="en-US" altLang="zh-CN" sz="3600" b="1" dirty="0"/>
              <a:t>    - the service</a:t>
            </a:r>
            <a:r>
              <a:rPr lang="en-US" altLang="zh-CN" sz="3600" dirty="0"/>
              <a:t>/</a:t>
            </a:r>
            <a:r>
              <a:rPr lang="en-US" altLang="zh-CN" sz="3600" b="1" dirty="0"/>
              <a:t>banking</a:t>
            </a:r>
            <a:r>
              <a:rPr lang="en-US" altLang="zh-CN" sz="3600" dirty="0"/>
              <a:t>/</a:t>
            </a:r>
            <a:r>
              <a:rPr lang="en-US" altLang="zh-CN" sz="3600" b="1" dirty="0"/>
              <a:t>manufacturing</a:t>
            </a:r>
            <a:r>
              <a:rPr lang="en-US" altLang="zh-CN" sz="3600" dirty="0"/>
              <a:t>/</a:t>
            </a:r>
            <a:r>
              <a:rPr lang="en-US" altLang="zh-CN" sz="3600" b="1" dirty="0"/>
              <a:t>financial sector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prstClr val="white"/>
                </a:solidFill>
                <a:latin typeface="Arial Black" pitchFamily="34" charset="0"/>
              </a:rPr>
              <a:t>Vocabulary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995198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268760"/>
            <a:ext cx="11449272" cy="5400600"/>
          </a:xfrm>
        </p:spPr>
        <p:txBody>
          <a:bodyPr>
            <a:noAutofit/>
          </a:bodyPr>
          <a:lstStyle/>
          <a:p>
            <a:r>
              <a:rPr lang="en-US" altLang="zh-CN" sz="3600" b="1" dirty="0"/>
              <a:t>rate</a:t>
            </a:r>
            <a:r>
              <a:rPr lang="en-US" altLang="zh-CN" sz="3600" dirty="0"/>
              <a:t>: a measurement of the number of times something happens in a particular period</a:t>
            </a:r>
          </a:p>
          <a:p>
            <a:pPr>
              <a:buNone/>
            </a:pPr>
            <a:r>
              <a:rPr lang="en-US" altLang="zh-CN" sz="3600" dirty="0"/>
              <a:t>    e.g. </a:t>
            </a:r>
            <a:r>
              <a:rPr lang="en-US" altLang="zh-CN" sz="3600" i="1" dirty="0"/>
              <a:t>birth/crime/success rate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i="1" dirty="0"/>
              <a:t>            interest/exchange/mortgage rate</a:t>
            </a:r>
          </a:p>
          <a:p>
            <a:r>
              <a:rPr lang="en-US" altLang="zh-CN" sz="3600" b="1" dirty="0"/>
              <a:t>ratio</a:t>
            </a:r>
            <a:r>
              <a:rPr lang="en-US" altLang="zh-CN" sz="3600" dirty="0"/>
              <a:t>: the relationship between two amounts, represented by two numbers or a percentage, expressing how much bigger one is than the other</a:t>
            </a:r>
          </a:p>
          <a:p>
            <a:pPr>
              <a:buNone/>
            </a:pPr>
            <a:r>
              <a:rPr lang="en-US" altLang="zh-CN" sz="3600" dirty="0"/>
              <a:t>    e.g. </a:t>
            </a:r>
            <a:r>
              <a:rPr lang="en-US" altLang="zh-CN" sz="3600" i="1" dirty="0"/>
              <a:t>The ratio of teachers </a:t>
            </a:r>
            <a:r>
              <a:rPr lang="en-US" altLang="zh-CN" sz="3600" i="1" u="sng" dirty="0"/>
              <a:t>to</a:t>
            </a:r>
            <a:r>
              <a:rPr lang="en-US" altLang="zh-CN" sz="3600" i="1" dirty="0"/>
              <a:t> students is 1:20.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600" i="1" dirty="0"/>
              <a:t>           teacher-student ratio; male-female ratio</a:t>
            </a:r>
            <a:r>
              <a:rPr lang="en-US" altLang="zh-CN" sz="3200" b="1" dirty="0"/>
              <a:t>       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prstClr val="white"/>
                </a:solidFill>
                <a:latin typeface="Arial Black" pitchFamily="34" charset="0"/>
              </a:rPr>
              <a:t>Vocabulary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57493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40768"/>
            <a:ext cx="11449272" cy="540060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</a:pPr>
            <a:r>
              <a:rPr lang="en-US" altLang="zh-CN" sz="3600" b="1" dirty="0"/>
              <a:t>benefit </a:t>
            </a:r>
            <a:r>
              <a:rPr lang="en-US" altLang="zh-CN" sz="3600" dirty="0"/>
              <a:t>[C or U]: money provided by the government to people who need financial help because they are ill, unemployed, etc.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3600" dirty="0"/>
              <a:t>   e.g. </a:t>
            </a:r>
            <a:r>
              <a:rPr lang="en-US" altLang="zh-CN" sz="3600" i="1" dirty="0"/>
              <a:t>unemployment/disability benefit</a:t>
            </a:r>
          </a:p>
          <a:p>
            <a:pPr>
              <a:spcBef>
                <a:spcPts val="600"/>
              </a:spcBef>
            </a:pPr>
            <a:r>
              <a:rPr lang="en-US" altLang="zh-CN" sz="3600" b="1" dirty="0"/>
              <a:t>subsidy </a:t>
            </a:r>
            <a:r>
              <a:rPr lang="en-US" altLang="zh-CN" sz="3600" dirty="0"/>
              <a:t>[C]: money given by a government or an organization to reduce the cost of producing a product, etc. and to help to keep prices low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dirty="0"/>
              <a:t>   e.g. </a:t>
            </a:r>
            <a:r>
              <a:rPr lang="en-US" altLang="zh-CN" sz="3600" i="1" dirty="0"/>
              <a:t>export/agricultural subsidy</a:t>
            </a:r>
          </a:p>
          <a:p>
            <a:pPr>
              <a:spcBef>
                <a:spcPts val="600"/>
              </a:spcBef>
              <a:buNone/>
            </a:pPr>
            <a:r>
              <a:rPr lang="en-US" altLang="zh-CN" sz="3600" dirty="0"/>
              <a:t>   </a:t>
            </a:r>
            <a:r>
              <a:rPr lang="en-US" altLang="zh-CN" sz="3600" dirty="0">
                <a:sym typeface="Wingdings 2"/>
              </a:rPr>
              <a:t> </a:t>
            </a:r>
            <a:r>
              <a:rPr lang="en-US" altLang="zh-CN" sz="3600" b="1" dirty="0">
                <a:sym typeface="Wingdings 2"/>
              </a:rPr>
              <a:t>subsidize</a:t>
            </a:r>
            <a:r>
              <a:rPr lang="en-US" altLang="zh-CN" sz="3600" dirty="0">
                <a:sym typeface="Wingdings 2"/>
              </a:rPr>
              <a:t>: </a:t>
            </a:r>
            <a:r>
              <a:rPr lang="en-US" altLang="zh-CN" sz="3600" i="1" dirty="0">
                <a:sym typeface="Wingdings 2"/>
              </a:rPr>
              <a:t>vt.</a:t>
            </a:r>
            <a:r>
              <a:rPr lang="en-US" altLang="zh-CN" sz="3600" b="1" dirty="0"/>
              <a:t>            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prstClr val="white"/>
                </a:solidFill>
                <a:latin typeface="Arial Black" pitchFamily="34" charset="0"/>
              </a:rPr>
              <a:t>Vocabulary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384480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7368" y="1340768"/>
            <a:ext cx="11449272" cy="5400600"/>
          </a:xfrm>
        </p:spPr>
        <p:txBody>
          <a:bodyPr>
            <a:noAutofit/>
          </a:bodyPr>
          <a:lstStyle/>
          <a:p>
            <a:pPr marL="432000" indent="-457200">
              <a:buNone/>
            </a:pPr>
            <a:r>
              <a:rPr lang="en-US" altLang="zh-CN" sz="3200" dirty="0">
                <a:sym typeface="Wingdings 2" panose="05020102010507070707" pitchFamily="18" charset="2"/>
              </a:rPr>
              <a:t></a:t>
            </a:r>
            <a:r>
              <a:rPr lang="en-US" altLang="zh-CN" sz="3600" b="1" dirty="0"/>
              <a:t>grant </a:t>
            </a:r>
            <a:r>
              <a:rPr lang="en-US" altLang="zh-CN" sz="3600" dirty="0"/>
              <a:t>[C]: money given by the government or other institution to an individual or organization for a particular purpose</a:t>
            </a:r>
          </a:p>
          <a:p>
            <a:pPr marL="0" indent="0">
              <a:buNone/>
            </a:pPr>
            <a:r>
              <a:rPr lang="en-US" altLang="zh-CN" sz="3600" dirty="0"/>
              <a:t>   e.g. </a:t>
            </a:r>
            <a:r>
              <a:rPr lang="en-US" altLang="zh-CN" sz="3600" i="1" dirty="0"/>
              <a:t>government/research/student grant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prstClr val="white"/>
                </a:solidFill>
                <a:latin typeface="Arial Black" pitchFamily="34" charset="0"/>
              </a:rPr>
              <a:t>Vocabulary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61708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60" y="1340768"/>
            <a:ext cx="11593288" cy="5400600"/>
          </a:xfrm>
        </p:spPr>
        <p:txBody>
          <a:bodyPr>
            <a:noAutofit/>
          </a:bodyPr>
          <a:lstStyle/>
          <a:p>
            <a:r>
              <a:rPr lang="en-US" altLang="zh-CN" sz="3600" b="1" dirty="0"/>
              <a:t>the jobless/the unemployed</a:t>
            </a:r>
          </a:p>
          <a:p>
            <a:r>
              <a:rPr lang="en-US" altLang="zh-CN" sz="3600" b="1" dirty="0"/>
              <a:t>trade deficit</a:t>
            </a:r>
            <a:r>
              <a:rPr lang="en-US" altLang="zh-CN" sz="3600" dirty="0"/>
              <a:t>;</a:t>
            </a:r>
            <a:r>
              <a:rPr lang="en-US" altLang="zh-CN" sz="3600" b="1" dirty="0"/>
              <a:t> trade surplus</a:t>
            </a:r>
          </a:p>
          <a:p>
            <a:pPr marL="0" indent="0">
              <a:buNone/>
            </a:pPr>
            <a:r>
              <a:rPr lang="en-US" altLang="zh-CN" sz="3600" b="1" dirty="0"/>
              <a:t>    - budget/fiscal deficit</a:t>
            </a:r>
          </a:p>
          <a:p>
            <a:pPr marL="432000" indent="-457200">
              <a:buNone/>
            </a:pPr>
            <a:r>
              <a:rPr lang="en-US" altLang="zh-CN" sz="3600" b="1" dirty="0"/>
              <a:t>    - food/water/power/</a:t>
            </a:r>
            <a:r>
              <a:rPr lang="en-US" altLang="zh-CN" sz="3600" b="1" dirty="0" err="1"/>
              <a:t>labour</a:t>
            </a:r>
            <a:r>
              <a:rPr lang="en-US" altLang="zh-CN" sz="3600" b="1" dirty="0"/>
              <a:t> shortage</a:t>
            </a:r>
            <a:r>
              <a:rPr lang="en-US" altLang="zh-CN" sz="3600" dirty="0"/>
              <a:t>; </a:t>
            </a:r>
            <a:r>
              <a:rPr lang="en-US" altLang="zh-CN" sz="3600" b="1" dirty="0"/>
              <a:t>a shortage of funds</a:t>
            </a:r>
          </a:p>
          <a:p>
            <a:r>
              <a:rPr lang="en-US" altLang="zh-CN" sz="3600" b="1" dirty="0"/>
              <a:t>purchasing power</a:t>
            </a:r>
          </a:p>
          <a:p>
            <a:r>
              <a:rPr lang="en-US" altLang="zh-CN" sz="3600" b="1" dirty="0"/>
              <a:t>tax burden     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>
                <a:solidFill>
                  <a:prstClr val="white"/>
                </a:solidFill>
                <a:latin typeface="Arial Black" pitchFamily="34" charset="0"/>
              </a:rPr>
              <a:t>Vocabulary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4196252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7034" y="1196752"/>
            <a:ext cx="11861282" cy="5517232"/>
          </a:xfrm>
        </p:spPr>
        <p:txBody>
          <a:bodyPr>
            <a:noAutofit/>
          </a:bodyPr>
          <a:lstStyle/>
          <a:p>
            <a:pPr marL="468000" indent="-468000"/>
            <a:r>
              <a:rPr lang="en-US" altLang="zh-CN" sz="3600" dirty="0"/>
              <a:t>Put the words that describe the economy in proper columns.</a:t>
            </a:r>
          </a:p>
          <a:p>
            <a:pPr marL="432000" indent="-457200">
              <a:buNone/>
            </a:pPr>
            <a:endParaRPr lang="en-US" altLang="zh-CN" sz="3600" dirty="0"/>
          </a:p>
          <a:p>
            <a:pPr marL="0" indent="0">
              <a:buNone/>
            </a:pPr>
            <a:endParaRPr lang="zh-CN" altLang="en-US" sz="3600" dirty="0"/>
          </a:p>
        </p:txBody>
      </p:sp>
      <p:sp>
        <p:nvSpPr>
          <p:cNvPr id="4" name="矩形 3">
            <a:hlinkClick r:id="" action="ppaction://noaction"/>
            <a:extLst>
              <a:ext uri="{FF2B5EF4-FFF2-40B4-BE49-F238E27FC236}">
                <a16:creationId xmlns:a16="http://schemas.microsoft.com/office/drawing/2014/main" id="{371ABEA1-701C-4552-A82C-A85EB947BD0E}"/>
              </a:ext>
            </a:extLst>
          </p:cNvPr>
          <p:cNvSpPr/>
          <p:nvPr/>
        </p:nvSpPr>
        <p:spPr>
          <a:xfrm>
            <a:off x="1161131" y="1843684"/>
            <a:ext cx="9793088" cy="237740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strong, weak, stable, booming, buoyant, depressed, healthy, stagnant, sluggish, resilient, fragile, prosperous, robust, volatile, vibrant, sound, flourishing, dynamic, flagging, progressive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7" name="Group 46">
            <a:extLst>
              <a:ext uri="{FF2B5EF4-FFF2-40B4-BE49-F238E27FC236}">
                <a16:creationId xmlns:a16="http://schemas.microsoft.com/office/drawing/2014/main" id="{AA78C5B6-7F14-470A-8F45-76C8263C642B}"/>
              </a:ext>
            </a:extLst>
          </p:cNvPr>
          <p:cNvGraphicFramePr>
            <a:graphicFrameLocks/>
          </p:cNvGraphicFramePr>
          <p:nvPr/>
        </p:nvGraphicFramePr>
        <p:xfrm>
          <a:off x="127034" y="4365104"/>
          <a:ext cx="11937932" cy="2395050"/>
        </p:xfrm>
        <a:graphic>
          <a:graphicData uri="http://schemas.openxmlformats.org/drawingml/2006/table">
            <a:tbl>
              <a:tblPr/>
              <a:tblGrid>
                <a:gridCol w="2984483">
                  <a:extLst>
                    <a:ext uri="{9D8B030D-6E8A-4147-A177-3AD203B41FA5}">
                      <a16:colId xmlns:a16="http://schemas.microsoft.com/office/drawing/2014/main" val="1067063285"/>
                    </a:ext>
                  </a:extLst>
                </a:gridCol>
                <a:gridCol w="2984483">
                  <a:extLst>
                    <a:ext uri="{9D8B030D-6E8A-4147-A177-3AD203B41FA5}">
                      <a16:colId xmlns:a16="http://schemas.microsoft.com/office/drawing/2014/main" val="2269180138"/>
                    </a:ext>
                  </a:extLst>
                </a:gridCol>
                <a:gridCol w="2984483">
                  <a:extLst>
                    <a:ext uri="{9D8B030D-6E8A-4147-A177-3AD203B41FA5}">
                      <a16:colId xmlns:a16="http://schemas.microsoft.com/office/drawing/2014/main" val="3549528589"/>
                    </a:ext>
                  </a:extLst>
                </a:gridCol>
                <a:gridCol w="2984483">
                  <a:extLst>
                    <a:ext uri="{9D8B030D-6E8A-4147-A177-3AD203B41FA5}">
                      <a16:colId xmlns:a16="http://schemas.microsoft.com/office/drawing/2014/main" val="4205087614"/>
                    </a:ext>
                  </a:extLst>
                </a:gridCol>
              </a:tblGrid>
              <a:tr h="767430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Most positive</a:t>
                      </a:r>
                    </a:p>
                  </a:txBody>
                  <a:tcPr marT="45714" marB="4571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positive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negative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30305"/>
                          </a:solidFill>
                          <a:effectLst/>
                          <a:latin typeface="Gill Sans MT" panose="020B0502020104020203" pitchFamily="34" charset="0"/>
                          <a:ea typeface="宋体" panose="02010600030101010101" pitchFamily="2" charset="-122"/>
                        </a:rPr>
                        <a:t>Most negative 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098463"/>
                  </a:ext>
                </a:extLst>
              </a:tr>
              <a:tr h="1609974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booming, prosperous, robust, flourishing, vibrant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strong, stable, buoyant, healthy, resilient, dynamic, sound, progressive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anose="05000000000000000000" pitchFamily="2" charset="2"/>
                        <a:defRPr sz="2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800"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weak, stagnant, sluggish, volatile, flagging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</a:rPr>
                        <a:t>fragile, depressed </a:t>
                      </a:r>
                      <a:endParaRPr kumimoji="0" lang="en-US" altLang="zh-CN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777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8914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451BA7A-6797-4DCB-BC4B-361BD1FA44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00"/>
          <a:stretch/>
        </p:blipFill>
        <p:spPr>
          <a:xfrm>
            <a:off x="974809" y="1800685"/>
            <a:ext cx="8944744" cy="497616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74734" y="260648"/>
            <a:ext cx="11453914" cy="725470"/>
          </a:xfrm>
        </p:spPr>
        <p:txBody>
          <a:bodyPr>
            <a:noAutofit/>
          </a:bodyPr>
          <a:lstStyle/>
          <a:p>
            <a:r>
              <a:rPr lang="en-US" sz="4400" dirty="0">
                <a:latin typeface="Arial Black" pitchFamily="34" charset="0"/>
              </a:rPr>
              <a:t>Vocabulary</a:t>
            </a:r>
            <a:endParaRPr lang="ru-RU" sz="4400" dirty="0">
              <a:latin typeface="Arial Black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10667" y="1268760"/>
            <a:ext cx="11453914" cy="1885653"/>
          </a:xfrm>
        </p:spPr>
        <p:txBody>
          <a:bodyPr>
            <a:noAutofit/>
          </a:bodyPr>
          <a:lstStyle/>
          <a:p>
            <a:pPr marL="432000" indent="-432000"/>
            <a:r>
              <a:rPr lang="en-US" altLang="zh-CN" sz="3600" dirty="0"/>
              <a:t>Words to label the economic cycle:</a:t>
            </a:r>
          </a:p>
          <a:p>
            <a:pPr marL="0" indent="0">
              <a:buNone/>
            </a:pPr>
            <a:endParaRPr lang="zh-CN" altLang="en-US" sz="36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A7F3DE-C59F-4CAB-A7B3-BAE0883DBD03}"/>
              </a:ext>
            </a:extLst>
          </p:cNvPr>
          <p:cNvSpPr/>
          <p:nvPr/>
        </p:nvSpPr>
        <p:spPr>
          <a:xfrm>
            <a:off x="983432" y="3536429"/>
            <a:ext cx="349032" cy="6126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CAF28F3-3ED9-4CCC-8B06-6D16CF686B10}"/>
              </a:ext>
            </a:extLst>
          </p:cNvPr>
          <p:cNvSpPr/>
          <p:nvPr/>
        </p:nvSpPr>
        <p:spPr>
          <a:xfrm>
            <a:off x="9624392" y="2276872"/>
            <a:ext cx="1308507" cy="7920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ndara" panose="020E0502030303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Growth trend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8C2B049-75DC-428C-A186-625E4F98CE3C}"/>
              </a:ext>
            </a:extLst>
          </p:cNvPr>
          <p:cNvSpPr/>
          <p:nvPr/>
        </p:nvSpPr>
        <p:spPr>
          <a:xfrm>
            <a:off x="1991544" y="5394936"/>
            <a:ext cx="1440160" cy="341271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9A64AD0-7598-44B5-AE54-DA4B85D90A58}"/>
              </a:ext>
            </a:extLst>
          </p:cNvPr>
          <p:cNvSpPr/>
          <p:nvPr/>
        </p:nvSpPr>
        <p:spPr>
          <a:xfrm>
            <a:off x="2184857" y="3284984"/>
            <a:ext cx="1368152" cy="369133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1456FD2-3B8C-4FE5-BCFA-D9EE8FFDA8C3}"/>
              </a:ext>
            </a:extLst>
          </p:cNvPr>
          <p:cNvSpPr/>
          <p:nvPr/>
        </p:nvSpPr>
        <p:spPr>
          <a:xfrm>
            <a:off x="4583832" y="5883176"/>
            <a:ext cx="1368152" cy="381088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4F066E4-C090-47BF-A678-0F9C2C7E17B8}"/>
              </a:ext>
            </a:extLst>
          </p:cNvPr>
          <p:cNvSpPr/>
          <p:nvPr/>
        </p:nvSpPr>
        <p:spPr>
          <a:xfrm>
            <a:off x="7536558" y="5318111"/>
            <a:ext cx="1440160" cy="418096"/>
          </a:xfrm>
          <a:prstGeom prst="rect">
            <a:avLst/>
          </a:prstGeom>
          <a:solidFill>
            <a:schemeClr val="bg1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FF876B5-3B56-4869-9248-95EF723D5E11}"/>
              </a:ext>
            </a:extLst>
          </p:cNvPr>
          <p:cNvSpPr/>
          <p:nvPr/>
        </p:nvSpPr>
        <p:spPr>
          <a:xfrm>
            <a:off x="1928208" y="3253526"/>
            <a:ext cx="1881449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Peak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2875079-0F8F-4D03-B99A-5D6AE63F8943}"/>
              </a:ext>
            </a:extLst>
          </p:cNvPr>
          <p:cNvSpPr/>
          <p:nvPr/>
        </p:nvSpPr>
        <p:spPr>
          <a:xfrm>
            <a:off x="1764887" y="5318110"/>
            <a:ext cx="1959000" cy="946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Contraction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/Recession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A64DF3A-4901-4874-95AB-50272AE2E2CA}"/>
              </a:ext>
            </a:extLst>
          </p:cNvPr>
          <p:cNvSpPr/>
          <p:nvPr/>
        </p:nvSpPr>
        <p:spPr>
          <a:xfrm>
            <a:off x="4041162" y="5848305"/>
            <a:ext cx="2453491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Trough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A051D49-F14C-4FA7-A3E5-29C19F986F55}"/>
              </a:ext>
            </a:extLst>
          </p:cNvPr>
          <p:cNvSpPr/>
          <p:nvPr/>
        </p:nvSpPr>
        <p:spPr>
          <a:xfrm>
            <a:off x="7395829" y="5267151"/>
            <a:ext cx="1827875" cy="10480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Expansion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/Recovery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/Growth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872A2DF-E2DB-44F8-8FCC-88F06C63FA6E}"/>
              </a:ext>
            </a:extLst>
          </p:cNvPr>
          <p:cNvSpPr/>
          <p:nvPr/>
        </p:nvSpPr>
        <p:spPr>
          <a:xfrm>
            <a:off x="9293663" y="5194009"/>
            <a:ext cx="2766410" cy="8272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Char char="C"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Boom: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extreme expansion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9B6052E-1877-48F9-9742-DBC8C7750D71}"/>
              </a:ext>
            </a:extLst>
          </p:cNvPr>
          <p:cNvSpPr/>
          <p:nvPr/>
        </p:nvSpPr>
        <p:spPr>
          <a:xfrm>
            <a:off x="1522136" y="6220183"/>
            <a:ext cx="2360099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 2" panose="05020102010507070707" pitchFamily="18" charset="2"/>
              </a:rPr>
              <a:t>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  <a:sym typeface="Wingdings 2" panose="05020102010507070707" pitchFamily="18" charset="2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Depression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802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36" grpId="0" animBg="1"/>
      <p:bldP spid="37" grpId="0" animBg="1"/>
      <p:bldP spid="15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sz="half" idx="1"/>
          </p:nvPr>
        </p:nvSpPr>
        <p:spPr>
          <a:xfrm>
            <a:off x="191344" y="1879674"/>
            <a:ext cx="5832648" cy="507771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A </a:t>
            </a:r>
            <a:r>
              <a:rPr lang="en-US" altLang="zh-CN" sz="3200" b="1" dirty="0"/>
              <a:t>significant decline</a:t>
            </a:r>
            <a:r>
              <a:rPr lang="en-US" altLang="zh-CN" sz="3200" dirty="0"/>
              <a:t> in economic activity spread across the economy, lasting more than a few months (</a:t>
            </a:r>
            <a:r>
              <a:rPr lang="en-US" altLang="zh-CN" sz="3200" b="1" dirty="0"/>
              <a:t>two consecutive quarters</a:t>
            </a:r>
            <a:r>
              <a:rPr lang="en-US" altLang="zh-CN" sz="3200" dirty="0"/>
              <a:t>), normally </a:t>
            </a:r>
            <a:r>
              <a:rPr lang="en-US" altLang="zh-CN" sz="3200" b="1" dirty="0"/>
              <a:t>visible</a:t>
            </a:r>
            <a:r>
              <a:rPr lang="en-US" altLang="zh-CN" sz="3200" dirty="0"/>
              <a:t> in GDP, income, employment, industrial production, and wholesale-retail sales.</a:t>
            </a:r>
            <a:endParaRPr lang="zh-CN" altLang="en-US" sz="3200" dirty="0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6240016" y="1878700"/>
            <a:ext cx="5803056" cy="4980274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A </a:t>
            </a:r>
            <a:r>
              <a:rPr lang="en-US" altLang="zh-CN" sz="3200" b="1" dirty="0"/>
              <a:t>sustained, long-term downturn</a:t>
            </a:r>
            <a:r>
              <a:rPr lang="en-US" altLang="zh-CN" sz="3200" dirty="0"/>
              <a:t> in the economy that lasts three or more years or results in a decline in GDP of at least 10%.</a:t>
            </a:r>
          </a:p>
          <a:p>
            <a:r>
              <a:rPr lang="en-US" altLang="zh-CN" sz="3200" dirty="0"/>
              <a:t>It follows the second stage of recession if the period of economic decline is </a:t>
            </a:r>
            <a:r>
              <a:rPr lang="en-US" altLang="zh-CN" sz="3200" b="1" dirty="0"/>
              <a:t>prolonged</a:t>
            </a:r>
            <a:r>
              <a:rPr lang="en-US" altLang="zh-CN" sz="3200" dirty="0"/>
              <a:t> and </a:t>
            </a:r>
            <a:r>
              <a:rPr lang="en-US" altLang="zh-CN" sz="3200" b="1" dirty="0"/>
              <a:t>severe</a:t>
            </a:r>
            <a:r>
              <a:rPr lang="en-US" altLang="zh-CN" sz="3200" dirty="0"/>
              <a:t>. </a:t>
            </a:r>
          </a:p>
        </p:txBody>
      </p:sp>
      <p:sp>
        <p:nvSpPr>
          <p:cNvPr id="11" name="矩形 10"/>
          <p:cNvSpPr/>
          <p:nvPr/>
        </p:nvSpPr>
        <p:spPr>
          <a:xfrm>
            <a:off x="1343472" y="1196752"/>
            <a:ext cx="2952328" cy="6273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ras Bold ITC" panose="020B0907030504020204" pitchFamily="34" charset="0"/>
                <a:ea typeface="宋体" panose="02010600030101010101" pitchFamily="2" charset="-122"/>
                <a:cs typeface="+mn-cs"/>
              </a:rPr>
              <a:t>Recession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as Bold ITC" panose="020B0907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392144" y="1196752"/>
            <a:ext cx="3240360" cy="6283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Eras Bold ITC" panose="020B0907030504020204" pitchFamily="34" charset="0"/>
                <a:ea typeface="宋体" panose="02010600030101010101" pitchFamily="2" charset="-122"/>
                <a:cs typeface="+mn-cs"/>
              </a:rPr>
              <a:t>Depression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Eras Bold ITC" panose="020B0907030504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7FFAAEF4-DF11-4474-AA51-4BFE96612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2" y="171299"/>
            <a:ext cx="11012131" cy="1018035"/>
          </a:xfrm>
        </p:spPr>
        <p:txBody>
          <a:bodyPr/>
          <a:lstStyle/>
          <a:p>
            <a:pPr algn="r"/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 Black" pitchFamily="34" charset="0"/>
                <a:ea typeface="+mj-ea"/>
                <a:cs typeface="+mj-cs"/>
              </a:rPr>
              <a:t>Vocabulary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8553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theme/theme1.xml><?xml version="1.0" encoding="utf-8"?>
<a:theme xmlns:a="http://schemas.openxmlformats.org/drawingml/2006/main" name="主题1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0" id="{8394886B-50DA-4550-80E1-215FDBF422D2}" vid="{131181BF-E95B-4B66-AED1-C6A66A4B0EEC}"/>
    </a:ext>
  </a:extLst>
</a:theme>
</file>

<file path=ppt/theme/theme2.xml><?xml version="1.0" encoding="utf-8"?>
<a:theme xmlns:a="http://schemas.openxmlformats.org/drawingml/2006/main" name="2_主题1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0" id="{8394886B-50DA-4550-80E1-215FDBF422D2}" vid="{131181BF-E95B-4B66-AED1-C6A66A4B0EEC}"/>
    </a:ext>
  </a:extLst>
</a:theme>
</file>

<file path=ppt/theme/theme3.xml><?xml version="1.0" encoding="utf-8"?>
<a:theme xmlns:a="http://schemas.openxmlformats.org/drawingml/2006/main" name="4_主题1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0" id="{8394886B-50DA-4550-80E1-215FDBF422D2}" vid="{131181BF-E95B-4B66-AED1-C6A66A4B0EEC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18390</TotalTime>
  <Words>1014</Words>
  <Application>Microsoft Office PowerPoint</Application>
  <PresentationFormat>宽屏</PresentationFormat>
  <Paragraphs>116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等线</vt:lpstr>
      <vt:lpstr>微软雅黑</vt:lpstr>
      <vt:lpstr>Arial</vt:lpstr>
      <vt:lpstr>Arial Black</vt:lpstr>
      <vt:lpstr>Calibri</vt:lpstr>
      <vt:lpstr>Candara</vt:lpstr>
      <vt:lpstr>Eras Bold ITC</vt:lpstr>
      <vt:lpstr>Gill Sans MT</vt:lpstr>
      <vt:lpstr>Wingdings 2</vt:lpstr>
      <vt:lpstr>主题10</vt:lpstr>
      <vt:lpstr>2_主题10</vt:lpstr>
      <vt:lpstr>4_主题10</vt:lpstr>
      <vt:lpstr>Vocabulary:  Economic issues</vt:lpstr>
      <vt:lpstr>Vocabulary</vt:lpstr>
      <vt:lpstr>Vocabulary</vt:lpstr>
      <vt:lpstr>Vocabulary</vt:lpstr>
      <vt:lpstr>Vocabulary</vt:lpstr>
      <vt:lpstr>Vocabulary</vt:lpstr>
      <vt:lpstr>Vocabulary</vt:lpstr>
      <vt:lpstr>Vocabulary</vt:lpstr>
      <vt:lpstr>Vocabulary</vt:lpstr>
      <vt:lpstr>Vocabulary </vt:lpstr>
      <vt:lpstr>Vocabulary</vt:lpstr>
      <vt:lpstr>Vocabulary</vt:lpstr>
      <vt:lpstr>Vocabulary</vt:lpstr>
      <vt:lpstr>Vocabulary</vt:lpstr>
      <vt:lpstr>Vocabulary</vt:lpstr>
      <vt:lpstr>Vocabulary</vt:lpstr>
      <vt:lpstr>Vocabulary</vt:lpstr>
      <vt:lpstr>Vocabulary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Here</dc:title>
  <dc:creator>1</dc:creator>
  <cp:lastModifiedBy>liyueyn</cp:lastModifiedBy>
  <cp:revision>2364</cp:revision>
  <dcterms:created xsi:type="dcterms:W3CDTF">2013-08-02T09:59:30Z</dcterms:created>
  <dcterms:modified xsi:type="dcterms:W3CDTF">2026-03-16T11:43:31Z</dcterms:modified>
</cp:coreProperties>
</file>