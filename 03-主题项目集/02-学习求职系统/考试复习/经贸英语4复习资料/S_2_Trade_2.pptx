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1" r:id="rId2"/>
    <p:sldMasterId id="2147483674" r:id="rId3"/>
    <p:sldMasterId id="2147483686" r:id="rId4"/>
  </p:sldMasterIdLst>
  <p:notesMasterIdLst>
    <p:notesMasterId r:id="rId32"/>
  </p:notesMasterIdLst>
  <p:sldIdLst>
    <p:sldId id="260" r:id="rId5"/>
    <p:sldId id="353" r:id="rId6"/>
    <p:sldId id="384" r:id="rId7"/>
    <p:sldId id="354" r:id="rId8"/>
    <p:sldId id="380" r:id="rId9"/>
    <p:sldId id="277" r:id="rId10"/>
    <p:sldId id="278" r:id="rId11"/>
    <p:sldId id="386" r:id="rId12"/>
    <p:sldId id="385" r:id="rId13"/>
    <p:sldId id="381" r:id="rId14"/>
    <p:sldId id="383" r:id="rId15"/>
    <p:sldId id="289" r:id="rId16"/>
    <p:sldId id="373" r:id="rId17"/>
    <p:sldId id="389" r:id="rId18"/>
    <p:sldId id="323" r:id="rId19"/>
    <p:sldId id="388" r:id="rId20"/>
    <p:sldId id="329" r:id="rId21"/>
    <p:sldId id="374" r:id="rId22"/>
    <p:sldId id="375" r:id="rId23"/>
    <p:sldId id="555" r:id="rId24"/>
    <p:sldId id="338" r:id="rId25"/>
    <p:sldId id="390" r:id="rId26"/>
    <p:sldId id="340" r:id="rId27"/>
    <p:sldId id="343" r:id="rId28"/>
    <p:sldId id="344" r:id="rId29"/>
    <p:sldId id="345" r:id="rId30"/>
    <p:sldId id="342" r:id="rId3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7D11"/>
    <a:srgbClr val="FF8205"/>
    <a:srgbClr val="66FF99"/>
    <a:srgbClr val="660066"/>
    <a:srgbClr val="66FFFF"/>
    <a:srgbClr val="FFCF21"/>
    <a:srgbClr val="015B5F"/>
    <a:srgbClr val="00808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70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7271" y="1908769"/>
            <a:ext cx="7779529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7560" y="3435819"/>
            <a:ext cx="7789240" cy="807579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002060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104470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FF7D1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405"/>
            <a:ext cx="8229600" cy="3569856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279263"/>
            <a:ext cx="6096000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7D1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042788"/>
            <a:ext cx="6096000" cy="3694697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44700"/>
          </a:xfrm>
        </p:spPr>
        <p:txBody>
          <a:bodyPr>
            <a:normAutofit/>
          </a:bodyPr>
          <a:lstStyle>
            <a:lvl1pPr algn="r">
              <a:defRPr sz="3600" u="none" baseline="0">
                <a:solidFill>
                  <a:srgbClr val="FF7D1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7" y="1407302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222" y="1975943"/>
            <a:ext cx="4041775" cy="2886379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407302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945"/>
            <a:ext cx="4041775" cy="2886380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5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877161"/>
            <a:ext cx="8246070" cy="1221639"/>
          </a:xfrm>
          <a:noFill/>
          <a:effectLst/>
        </p:spPr>
        <p:txBody>
          <a:bodyPr>
            <a:normAutofit/>
          </a:bodyPr>
          <a:lstStyle>
            <a:lvl1pPr algn="r">
              <a:defRPr sz="3600">
                <a:solidFill>
                  <a:srgbClr val="00B0F0"/>
                </a:solidFill>
                <a:effectLst>
                  <a:outerShdw blurRad="76200" dist="38100" dir="3000000" algn="ctr" rotWithShape="0">
                    <a:schemeClr val="tx1">
                      <a:alpha val="41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965" y="4098800"/>
            <a:ext cx="8246070" cy="610821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50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86585"/>
            <a:ext cx="8246070" cy="73929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350111"/>
            <a:ext cx="8246070" cy="3359506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45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433880"/>
            <a:ext cx="641361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8560"/>
            <a:ext cx="6413610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56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8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64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86586"/>
            <a:ext cx="8246071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80" y="150281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80" y="1934336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1" y="150281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1934336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99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431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91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86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52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04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4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152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527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195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78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972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279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074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57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334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60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291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06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877161"/>
            <a:ext cx="8246070" cy="1221639"/>
          </a:xfrm>
          <a:noFill/>
          <a:effectLst/>
        </p:spPr>
        <p:txBody>
          <a:bodyPr>
            <a:normAutofit/>
          </a:bodyPr>
          <a:lstStyle>
            <a:lvl1pPr algn="r">
              <a:defRPr sz="3600">
                <a:solidFill>
                  <a:srgbClr val="00B0F0"/>
                </a:solidFill>
                <a:effectLst>
                  <a:outerShdw blurRad="76200" dist="38100" dir="3000000" algn="ctr" rotWithShape="0">
                    <a:schemeClr val="tx1">
                      <a:alpha val="41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965" y="4098800"/>
            <a:ext cx="8246070" cy="610821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27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86585"/>
            <a:ext cx="8246070" cy="73929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350111"/>
            <a:ext cx="8246070" cy="3359506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94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433880"/>
            <a:ext cx="641361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8560"/>
            <a:ext cx="6413610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550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249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55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86586"/>
            <a:ext cx="8246071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80" y="150281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80" y="1934336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1" y="150281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1934336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247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474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37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807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566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333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4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56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6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49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25442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5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F2436-A120-44C6-8DEB-FB39AA37F16A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15D21-7A68-43FF-AD93-41204F113B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22387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3.jpg"/><Relationship Id="rId5" Type="http://schemas.openxmlformats.org/officeDocument/2006/relationships/image" Target="../media/image12.jpeg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9.jpg"/><Relationship Id="rId5" Type="http://schemas.openxmlformats.org/officeDocument/2006/relationships/image" Target="../media/image18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7474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1. Inquiry</a:t>
            </a:r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/Enquiry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59" y="789552"/>
            <a:ext cx="8704185" cy="432048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dirty="0">
                <a:sym typeface="Wingdings" panose="05000000000000000000" pitchFamily="2" charset="2"/>
              </a:rPr>
              <a:t>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an inquiry: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interested in …</a:t>
            </a:r>
          </a:p>
          <a:p>
            <a:pPr marL="216000" indent="-216000" defTabSz="685800"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Please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quote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us (your lowest price)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for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…</a:t>
            </a:r>
          </a:p>
          <a:p>
            <a:pPr marL="216000" indent="-216000" defTabSz="685800"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Please </a:t>
            </a:r>
            <a:r>
              <a:rPr lang="en-US" altLang="zh-CN" b="1" dirty="0">
                <a:solidFill>
                  <a:srgbClr val="0C0600"/>
                </a:solidFill>
              </a:rPr>
              <a:t>offer </a:t>
            </a:r>
            <a:r>
              <a:rPr lang="en-US" altLang="zh-CN" dirty="0">
                <a:solidFill>
                  <a:srgbClr val="0C0600"/>
                </a:solidFill>
              </a:rPr>
              <a:t>…</a:t>
            </a:r>
            <a:r>
              <a:rPr lang="en-US" altLang="zh-CN" b="1" dirty="0">
                <a:solidFill>
                  <a:srgbClr val="0C0600"/>
                </a:solidFill>
              </a:rPr>
              <a:t> </a:t>
            </a:r>
            <a:r>
              <a:rPr lang="en-US" altLang="zh-CN" dirty="0">
                <a:solidFill>
                  <a:srgbClr val="0C0600"/>
                </a:solidFill>
              </a:rPr>
              <a:t>/</a:t>
            </a:r>
            <a:r>
              <a:rPr lang="en-US" altLang="zh-CN" b="1" dirty="0">
                <a:solidFill>
                  <a:srgbClr val="0C0600"/>
                </a:solidFill>
              </a:rPr>
              <a:t> make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an offer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for/ …</a:t>
            </a:r>
          </a:p>
          <a:p>
            <a:pPr marL="216000" indent="-216000"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We’d like to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enquire about 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/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make an enquiry for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/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know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/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have details of 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… </a:t>
            </a:r>
          </a:p>
          <a:p>
            <a:pPr marL="216000" indent="-216000" defTabSz="685800"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C0600"/>
                </a:solidFill>
                <a:latin typeface="Calibri"/>
                <a:ea typeface="Gulim" pitchFamily="34" charset="-127"/>
              </a:rPr>
              <a:t>Please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Gulim" pitchFamily="34" charset="-127"/>
              </a:rPr>
              <a:t>let us know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Gulim" pitchFamily="34" charset="-127"/>
              </a:rPr>
              <a:t> on what </a:t>
            </a:r>
            <a:r>
              <a:rPr lang="en-US" altLang="zh-CN" u="sng" dirty="0">
                <a:solidFill>
                  <a:srgbClr val="0C0600"/>
                </a:solidFill>
                <a:latin typeface="Calibri"/>
                <a:ea typeface="Gulim" pitchFamily="34" charset="-127"/>
              </a:rPr>
              <a:t>terms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Gulim" pitchFamily="34" charset="-127"/>
              </a:rPr>
              <a:t> / what </a:t>
            </a:r>
            <a:r>
              <a:rPr lang="en-US" altLang="zh-CN" u="sng" dirty="0">
                <a:solidFill>
                  <a:srgbClr val="0C0600"/>
                </a:solidFill>
                <a:latin typeface="Calibri"/>
                <a:ea typeface="Gulim" pitchFamily="34" charset="-127"/>
              </a:rPr>
              <a:t>quantities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Gulim" pitchFamily="34" charset="-127"/>
              </a:rPr>
              <a:t> you can supply …</a:t>
            </a:r>
            <a:endParaRPr lang="en-US" altLang="zh-CN" dirty="0">
              <a:solidFill>
                <a:srgbClr val="0C0600"/>
              </a:solidFill>
              <a:latin typeface="Calibri"/>
              <a:ea typeface="宋体" panose="02010600030101010101" pitchFamily="2" charset="-122"/>
            </a:endParaRPr>
          </a:p>
          <a:p>
            <a:pPr marL="216000" indent="-216000" defTabSz="685800"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Would (Could) you please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send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/ Please send us your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quotation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(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price list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, </a:t>
            </a:r>
            <a:r>
              <a:rPr lang="en-US" altLang="zh-CN" b="1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latest catalogue, sample</a:t>
            </a:r>
            <a:r>
              <a:rPr lang="en-US" altLang="zh-CN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) for … </a:t>
            </a:r>
          </a:p>
        </p:txBody>
      </p:sp>
    </p:spTree>
    <p:extLst>
      <p:ext uri="{BB962C8B-B14F-4D97-AF65-F5344CB8AC3E}">
        <p14:creationId xmlns:p14="http://schemas.microsoft.com/office/powerpoint/2010/main" val="368637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113589"/>
            <a:ext cx="8229600" cy="3726413"/>
          </a:xfrm>
        </p:spPr>
        <p:txBody>
          <a:bodyPr>
            <a:normAutofit/>
          </a:bodyPr>
          <a:lstStyle/>
          <a:p>
            <a:pPr marL="270000" indent="-270000"/>
            <a:r>
              <a:rPr lang="en-US" altLang="zh-CN" sz="3200" b="1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Firm offer </a:t>
            </a:r>
            <a:r>
              <a:rPr lang="en-US" altLang="zh-CN" sz="320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(offer with engagement):</a:t>
            </a:r>
          </a:p>
          <a:p>
            <a:pPr marL="270000" indent="-324000">
              <a:buNone/>
            </a:pPr>
            <a:r>
              <a:rPr lang="en-US" altLang="zh-CN" sz="320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with specific and definite terms (at least the name, quantity and price of goods)</a:t>
            </a:r>
          </a:p>
          <a:p>
            <a:pPr lvl="0">
              <a:buNone/>
            </a:pPr>
            <a:r>
              <a:rPr lang="en-US" altLang="zh-CN" sz="320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with a term of </a:t>
            </a:r>
            <a:r>
              <a:rPr lang="en-US" altLang="zh-CN" sz="3200" b="1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validity</a:t>
            </a:r>
          </a:p>
        </p:txBody>
      </p:sp>
    </p:spTree>
    <p:extLst>
      <p:ext uri="{BB962C8B-B14F-4D97-AF65-F5344CB8AC3E}">
        <p14:creationId xmlns:p14="http://schemas.microsoft.com/office/powerpoint/2010/main" val="407273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634" y="114300"/>
            <a:ext cx="6480720" cy="628650"/>
          </a:xfrm>
        </p:spPr>
        <p:txBody>
          <a:bodyPr>
            <a:noAutofit/>
          </a:bodyPr>
          <a:lstStyle/>
          <a:p>
            <a:r>
              <a:rPr lang="en-US" b="1" dirty="0">
                <a:latin typeface="Candara" panose="020E0502030303020204" pitchFamily="34" charset="0"/>
                <a:ea typeface="Adobe Heiti Std R" pitchFamily="34" charset="-128"/>
              </a:rPr>
              <a:t>2. Offer: firm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890" y="787634"/>
            <a:ext cx="8488208" cy="4229100"/>
          </a:xfrm>
        </p:spPr>
        <p:txBody>
          <a:bodyPr>
            <a:normAutofit/>
          </a:bodyPr>
          <a:lstStyle/>
          <a:p>
            <a:r>
              <a:rPr lang="en-US" altLang="zh-CN" sz="2600" dirty="0">
                <a:cs typeface="Arial" panose="020B0604020202020204" pitchFamily="34" charset="0"/>
              </a:rPr>
              <a:t>We                                                             subject to your</a:t>
            </a:r>
          </a:p>
          <a:p>
            <a:endParaRPr lang="en-US" altLang="zh-CN" sz="2600" dirty="0">
              <a:cs typeface="Arial" panose="020B0604020202020204" pitchFamily="34" charset="0"/>
            </a:endParaRPr>
          </a:p>
          <a:p>
            <a:endParaRPr lang="en-US" altLang="zh-CN" sz="26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600" dirty="0">
                <a:cs typeface="Arial" panose="020B0604020202020204" pitchFamily="34" charset="0"/>
              </a:rPr>
              <a:t>                            reaching here/us</a:t>
            </a:r>
          </a:p>
          <a:p>
            <a:pPr marL="0" indent="0">
              <a:buNone/>
            </a:pPr>
            <a:endParaRPr lang="en-US" altLang="zh-CN" sz="26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6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600" dirty="0">
              <a:cs typeface="Arial" panose="020B0604020202020204" pitchFamily="34" charset="0"/>
            </a:endParaRPr>
          </a:p>
          <a:p>
            <a:r>
              <a:rPr lang="en-US" altLang="zh-CN" sz="2600" dirty="0">
                <a:cs typeface="Arial" panose="020B0604020202020204" pitchFamily="34" charset="0"/>
              </a:rPr>
              <a:t>The offer is/remains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>
                <a:cs typeface="Arial" panose="020B0604020202020204" pitchFamily="34" charset="0"/>
              </a:rPr>
              <a:t>    valid/firm/open/effective for 20 days / </a:t>
            </a:r>
            <a:r>
              <a:rPr lang="en-US" altLang="zh-CN" sz="2600" u="sng" dirty="0">
                <a:cs typeface="Arial" panose="020B0604020202020204" pitchFamily="34" charset="0"/>
              </a:rPr>
              <a:t>until</a:t>
            </a:r>
            <a:r>
              <a:rPr lang="en-US" altLang="zh-CN" sz="2600" dirty="0">
                <a:cs typeface="Arial" panose="020B0604020202020204" pitchFamily="34" charset="0"/>
              </a:rPr>
              <a:t> June 30.</a:t>
            </a:r>
          </a:p>
        </p:txBody>
      </p:sp>
      <p:sp>
        <p:nvSpPr>
          <p:cNvPr id="4" name="矩形 3"/>
          <p:cNvSpPr/>
          <p:nvPr/>
        </p:nvSpPr>
        <p:spPr>
          <a:xfrm>
            <a:off x="1194893" y="847066"/>
            <a:ext cx="4140632" cy="742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85800">
              <a:defRPr/>
            </a:pPr>
            <a:r>
              <a:rPr lang="en-US" altLang="zh-CN" sz="26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offer (firm)</a:t>
            </a:r>
          </a:p>
          <a:p>
            <a:pPr defTabSz="685800">
              <a:defRPr/>
            </a:pPr>
            <a:r>
              <a:rPr lang="en-US" altLang="zh-CN" sz="26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make you the following offer</a:t>
            </a:r>
            <a:r>
              <a:rPr lang="en-US" altLang="zh-CN" sz="255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2550" dirty="0">
              <a:solidFill>
                <a:srgbClr val="0C0600"/>
              </a:solidFill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4024" y="1808237"/>
            <a:ext cx="1985165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85800">
              <a:defRPr/>
            </a:pPr>
            <a:r>
              <a:rPr lang="en-US" altLang="zh-CN" sz="260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</a:t>
            </a:r>
          </a:p>
          <a:p>
            <a:pPr defTabSz="685800">
              <a:defRPr/>
            </a:pPr>
            <a:r>
              <a:rPr lang="en-US" altLang="zh-CN" sz="260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acceptance</a:t>
            </a:r>
          </a:p>
          <a:p>
            <a:pPr defTabSz="685800">
              <a:defRPr/>
            </a:pPr>
            <a:r>
              <a:rPr lang="en-US" altLang="zh-CN" sz="260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confirmation</a:t>
            </a:r>
            <a:endParaRPr lang="zh-CN" altLang="en-US" sz="2600" dirty="0">
              <a:solidFill>
                <a:srgbClr val="0C060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71548" y="1657350"/>
            <a:ext cx="4123035" cy="2746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85800">
              <a:defRPr/>
            </a:pP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within two weeks/five days.</a:t>
            </a:r>
          </a:p>
          <a:p>
            <a:pPr defTabSz="685800">
              <a:defRPr/>
            </a:pP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altLang="zh-CN" sz="2550" u="sng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June 30, 2026.</a:t>
            </a:r>
          </a:p>
          <a:p>
            <a:pPr defTabSz="685800">
              <a:defRPr/>
            </a:pP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altLang="zh-CN" sz="2550" u="sng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later than</a:t>
            </a: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June 30, 2026.</a:t>
            </a:r>
          </a:p>
          <a:p>
            <a:pPr defTabSz="685800">
              <a:defRPr/>
            </a:pP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altLang="zh-CN" sz="2550" u="sng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June 30, 2026.</a:t>
            </a:r>
          </a:p>
          <a:p>
            <a:pPr defTabSz="685800">
              <a:defRPr/>
            </a:pP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altLang="zh-CN" sz="2550" u="sng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or before</a:t>
            </a: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June 30, 2026.</a:t>
            </a:r>
          </a:p>
          <a:p>
            <a:pPr marL="180000" indent="-457200" defTabSz="685800">
              <a:defRPr/>
            </a:pPr>
            <a:r>
              <a:rPr lang="en-US" altLang="zh-CN" sz="2550" dirty="0">
                <a:solidFill>
                  <a:srgbClr val="0C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not later than 17:00 (Beijing  Time) on June 30, 2026</a:t>
            </a:r>
          </a:p>
        </p:txBody>
      </p:sp>
    </p:spTree>
    <p:extLst>
      <p:ext uri="{BB962C8B-B14F-4D97-AF65-F5344CB8AC3E}">
        <p14:creationId xmlns:p14="http://schemas.microsoft.com/office/powerpoint/2010/main" val="230280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 animBg="1"/>
      <p:bldP spid="6" grpId="0" uiExpan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113589"/>
            <a:ext cx="8229600" cy="3726413"/>
          </a:xfrm>
        </p:spPr>
        <p:txBody>
          <a:bodyPr>
            <a:normAutofit/>
          </a:bodyPr>
          <a:lstStyle/>
          <a:p>
            <a:pPr marL="270000" indent="-270000"/>
            <a:r>
              <a:rPr lang="en-US" altLang="zh-CN" sz="3200" b="1" dirty="0">
                <a:solidFill>
                  <a:srgbClr val="0C0600"/>
                </a:solidFill>
              </a:rPr>
              <a:t>Non-firm</a:t>
            </a:r>
            <a:r>
              <a:rPr lang="en-US" altLang="zh-CN" sz="3200" dirty="0">
                <a:solidFill>
                  <a:srgbClr val="0C0600"/>
                </a:solidFill>
              </a:rPr>
              <a:t> offer (offer without engagement):</a:t>
            </a:r>
          </a:p>
          <a:p>
            <a:pPr marL="0" indent="0">
              <a:buNone/>
            </a:pPr>
            <a:r>
              <a:rPr lang="en-US" altLang="zh-CN" sz="3200" dirty="0">
                <a:solidFill>
                  <a:srgbClr val="0C0600"/>
                </a:solidFill>
              </a:rPr>
              <a:t> - without a term of </a:t>
            </a:r>
            <a:r>
              <a:rPr lang="en-US" altLang="zh-CN" sz="3200" b="1" dirty="0">
                <a:solidFill>
                  <a:srgbClr val="0C0600"/>
                </a:solidFill>
              </a:rPr>
              <a:t>validity</a:t>
            </a:r>
            <a:endParaRPr lang="en-US" altLang="zh-CN" sz="2700" b="1" dirty="0">
              <a:solidFill>
                <a:srgbClr val="0C0600"/>
              </a:solidFill>
            </a:endParaRPr>
          </a:p>
          <a:p>
            <a:pPr marL="0" indent="0">
              <a:buNone/>
            </a:pPr>
            <a:endParaRPr lang="zh-CN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82469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634" y="114300"/>
            <a:ext cx="6480720" cy="628650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Offer: non-firm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14400"/>
            <a:ext cx="8370930" cy="414162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offer subject to</a:t>
            </a:r>
          </a:p>
          <a:p>
            <a:endParaRPr lang="en-US" altLang="zh-C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make the following offer without engagement/ obligation.</a:t>
            </a:r>
          </a:p>
          <a:p>
            <a:pPr lv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offer is without engagement.  </a:t>
            </a:r>
          </a:p>
        </p:txBody>
      </p:sp>
      <p:sp>
        <p:nvSpPr>
          <p:cNvPr id="10" name="矩形 9"/>
          <p:cNvSpPr/>
          <p:nvPr/>
        </p:nvSpPr>
        <p:spPr>
          <a:xfrm>
            <a:off x="3808475" y="748922"/>
            <a:ext cx="4752528" cy="26776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defTabSz="685800">
              <a:defRPr/>
            </a:pP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- our final confirmation.</a:t>
            </a:r>
          </a:p>
          <a:p>
            <a:pPr defTabSz="685800">
              <a:defRPr/>
            </a:pP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- change without notice.</a:t>
            </a:r>
          </a:p>
          <a:p>
            <a:pPr defTabSz="685800">
              <a:defRPr/>
            </a:pP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- materials being available.</a:t>
            </a:r>
          </a:p>
          <a:p>
            <a:pPr defTabSz="685800">
              <a:defRPr/>
            </a:pP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- goods being unsold.</a:t>
            </a:r>
          </a:p>
          <a:p>
            <a:pPr defTabSz="685800">
              <a:defRPr/>
            </a:pP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- prior sale.</a:t>
            </a:r>
          </a:p>
          <a:p>
            <a:pPr defTabSz="685800">
              <a:defRPr/>
            </a:pP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cs typeface="Arial" panose="020B0604020202020204" pitchFamily="34" charset="0"/>
              </a:rPr>
              <a:t>- sample approval. </a:t>
            </a:r>
            <a:endParaRPr lang="zh-CN" altLang="en-US" sz="2800" dirty="0">
              <a:solidFill>
                <a:srgbClr val="0C0600"/>
              </a:solidFill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68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634" y="114300"/>
            <a:ext cx="648072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Exercises:</a:t>
            </a:r>
            <a:r>
              <a:rPr lang="zh-CN" altLang="en-US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 </a:t>
            </a:r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Offer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48964" y="897564"/>
            <a:ext cx="8398776" cy="42459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现报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打毛巾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(towel)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如下，以我方最后确认为准。</a:t>
            </a:r>
            <a:endParaRPr lang="en-US" altLang="zh-CN" sz="27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- We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make the following offer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for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1000 dozen towels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subject to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our final confirmation.</a:t>
            </a:r>
          </a:p>
          <a:p>
            <a:pPr marL="257175" indent="-257175" defTabSz="685800">
              <a:spcBef>
                <a:spcPts val="1800"/>
              </a:spcBef>
            </a:pP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为复你方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日的询盘，我方特向你方发盘如下，以你方在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天内接受为有效。</a:t>
            </a:r>
            <a:endParaRPr lang="en-US" altLang="zh-CN" sz="27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-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 reply to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your enquiry of May 10 /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As requested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by you on May 10, we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offer as follows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/ we are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offering you the following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subject to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your acceptance within seven days.</a:t>
            </a:r>
          </a:p>
          <a:p>
            <a:pPr marL="257175" indent="-257175" defTabSz="685800">
              <a:buNone/>
            </a:pPr>
            <a:endParaRPr lang="zh-CN" altLang="en-US" sz="21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81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97564"/>
            <a:ext cx="8046894" cy="42459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Make an offer based on the following information:</a:t>
            </a:r>
          </a:p>
          <a:p>
            <a:pPr marL="270000" defTabSz="685800">
              <a:lnSpc>
                <a:spcPts val="36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白云牌精制糖，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级，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50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公吨，用牛皮纸袋包装，每袋净重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50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千克，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FOB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广州价每吨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美元，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月份装运（或收到信用证一个月后装运），不可撤销、即期信用证付款。</a:t>
            </a:r>
          </a:p>
          <a:p>
            <a:pPr marL="0" indent="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报实盘、虚盘各一。</a:t>
            </a:r>
          </a:p>
          <a:p>
            <a:pPr marL="257175" indent="-257175" defTabSz="685800">
              <a:buNone/>
            </a:pPr>
            <a:endParaRPr lang="zh-CN" altLang="en-US" sz="21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292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97564"/>
            <a:ext cx="8154906" cy="42459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Make an offer based on the following information:</a:t>
            </a:r>
          </a:p>
          <a:p>
            <a:pPr marL="270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- 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We offer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subject to your reply here by June 30, 2026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,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50 M/T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“</a:t>
            </a:r>
            <a:r>
              <a:rPr lang="en-US" altLang="zh-CN" sz="2800" u="sng" dirty="0" err="1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Baiyun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” Brand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refined sugar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Grade A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at USD100 per M/T FOB Guangzhou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,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packed in kraft paper bags of 50 kg net each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,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September shipment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(or shipment within one month of receipt of L/C), and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payment by irrevocable sight L/C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.</a:t>
            </a:r>
          </a:p>
          <a:p>
            <a:pPr marL="257175" indent="-257175" defTabSz="685800">
              <a:buNone/>
            </a:pPr>
            <a:endParaRPr lang="zh-CN" altLang="en-US" sz="21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199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97564"/>
            <a:ext cx="8046894" cy="42459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Make an offer based on the following information:</a:t>
            </a:r>
          </a:p>
          <a:p>
            <a:pPr marL="270000" defTabSz="685800">
              <a:lnSpc>
                <a:spcPts val="36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白云牌电动车，型号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EX9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辆，每辆用出口纸箱包装，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FOB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深圳价每辆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美元，</a:t>
            </a: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月份装运（或收到信用证一个月后装运），不可撤销、即期信用证付款。</a:t>
            </a:r>
          </a:p>
          <a:p>
            <a:pPr marL="0" indent="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CN" altLang="en-US" sz="27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报实盘、虚盘各一。</a:t>
            </a:r>
          </a:p>
          <a:p>
            <a:pPr marL="257175" indent="-257175" defTabSz="685800">
              <a:buNone/>
            </a:pPr>
            <a:endParaRPr lang="zh-CN" altLang="en-US" sz="21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4768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97564"/>
            <a:ext cx="8154906" cy="42459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Make an offer based on the following information:</a:t>
            </a:r>
          </a:p>
          <a:p>
            <a:pPr marL="270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- 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We offer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subject to our final confirmation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,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500 units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“</a:t>
            </a:r>
            <a:r>
              <a:rPr lang="en-US" altLang="zh-CN" sz="2800" u="sng" dirty="0" err="1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Baiyun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” Brand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electric bicycles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model EX9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at USD200 per unit FOB Shenzhen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,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packed in an export carton of one unit each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,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September shipment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(or shipment within one month of receipt of L/C), and</a:t>
            </a:r>
            <a:r>
              <a:rPr lang="zh-CN" altLang="en-US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payment by irrevocable sight L/C</a:t>
            </a:r>
            <a:r>
              <a:rPr lang="en-US" altLang="zh-CN" sz="28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.</a:t>
            </a:r>
          </a:p>
          <a:p>
            <a:pPr marL="257175" indent="-257175" defTabSz="685800">
              <a:buNone/>
            </a:pPr>
            <a:endParaRPr lang="zh-CN" altLang="en-US" sz="21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819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2. Offer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97564"/>
            <a:ext cx="8046894" cy="424593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00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- </a:t>
            </a: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We make you the following offer, subject to our final confirmation:</a:t>
            </a:r>
          </a:p>
          <a:p>
            <a:pPr marL="270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  1. Commodity: “</a:t>
            </a:r>
            <a:r>
              <a:rPr lang="en-US" altLang="zh-CN" sz="2700" dirty="0" err="1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Baiyun</a:t>
            </a: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” Brand refined sugar, Grade A </a:t>
            </a:r>
          </a:p>
          <a:p>
            <a:pPr marL="270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  2. Quantity: 50 M/T </a:t>
            </a:r>
          </a:p>
          <a:p>
            <a:pPr marL="270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  3. Price: USD100 per M/T FOB Guangzhou </a:t>
            </a:r>
          </a:p>
          <a:p>
            <a:pPr marL="270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  4. Packing: In kraft paper bags of 50kg net each </a:t>
            </a:r>
          </a:p>
          <a:p>
            <a:pPr marL="324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  5. Shipment: During September (Within one month of  receipt of L/C) </a:t>
            </a:r>
          </a:p>
          <a:p>
            <a:pPr marL="270000" defTabSz="685800">
              <a:lnSpc>
                <a:spcPct val="120000"/>
              </a:lnSpc>
              <a:spcBef>
                <a:spcPts val="450"/>
              </a:spcBef>
              <a:buNone/>
              <a:defRPr/>
            </a:pPr>
            <a:r>
              <a:rPr lang="en-US" altLang="zh-CN" sz="2700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</a:rPr>
              <a:t>   6. Payment: By irrevocable, sight L/C</a:t>
            </a:r>
          </a:p>
        </p:txBody>
      </p:sp>
    </p:spTree>
    <p:extLst>
      <p:ext uri="{BB962C8B-B14F-4D97-AF65-F5344CB8AC3E}">
        <p14:creationId xmlns:p14="http://schemas.microsoft.com/office/powerpoint/2010/main" val="423646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46194" y="843558"/>
            <a:ext cx="7222758" cy="40913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buNone/>
            </a:pPr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</a:t>
            </a:r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55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Types of order</a:t>
            </a:r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:</a:t>
            </a:r>
            <a:endParaRPr lang="en-US" altLang="zh-CN" sz="255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initial order</a:t>
            </a: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fresh order</a:t>
            </a: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trial order</a:t>
            </a: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repeat order (re-order)</a:t>
            </a: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duplicate order</a:t>
            </a: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regular order</a:t>
            </a: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outstanding order</a:t>
            </a:r>
          </a:p>
          <a:p>
            <a:pPr marL="257175" indent="-257175" defTabSz="685800"/>
            <a:r>
              <a:rPr lang="en-US" altLang="zh-CN" sz="255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back order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E571DD6-8A10-4F06-8C5D-12C9C538DFDF}"/>
              </a:ext>
            </a:extLst>
          </p:cNvPr>
          <p:cNvSpPr txBox="1">
            <a:spLocks/>
          </p:cNvSpPr>
          <p:nvPr/>
        </p:nvSpPr>
        <p:spPr>
          <a:xfrm>
            <a:off x="0" y="114300"/>
            <a:ext cx="9144000" cy="6286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r" defTabSz="1219170" rtl="0" eaLnBrk="1" latinLnBrk="0" hangingPunct="1">
              <a:spcBef>
                <a:spcPct val="0"/>
              </a:spcBef>
              <a:buNone/>
              <a:defRPr sz="4800" kern="12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 defTabSz="914378"/>
            <a:r>
              <a:rPr lang="en-US" altLang="zh-CN" sz="3300" b="1" dirty="0">
                <a:solidFill>
                  <a:prstClr val="black"/>
                </a:solidFill>
                <a:latin typeface="Candara" panose="020E0502030303020204" pitchFamily="34" charset="0"/>
                <a:ea typeface="Adobe Heiti Std R" pitchFamily="34" charset="-128"/>
              </a:rPr>
              <a:t>3. Acceptance &amp; order</a:t>
            </a:r>
            <a:endParaRPr lang="en-US" sz="3300" b="1" dirty="0">
              <a:solidFill>
                <a:prstClr val="black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1155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75556" y="897564"/>
            <a:ext cx="8208912" cy="40913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spcBef>
                <a:spcPts val="13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place </a:t>
            </a:r>
            <a:r>
              <a:rPr lang="en-US" altLang="zh-CN" sz="27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an order</a:t>
            </a:r>
          </a:p>
          <a:p>
            <a:pPr marL="257175" indent="-257175" defTabSz="685800">
              <a:spcBef>
                <a:spcPts val="13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accept/confirm/close/book </a:t>
            </a:r>
            <a:r>
              <a:rPr lang="en-US" altLang="zh-CN" sz="27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an order</a:t>
            </a:r>
          </a:p>
          <a:p>
            <a:pPr marL="257175" indent="-257175" defTabSz="685800">
              <a:spcBef>
                <a:spcPts val="13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decline/refuse/turn down </a:t>
            </a:r>
            <a:r>
              <a:rPr lang="en-US" altLang="zh-CN" sz="27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an order</a:t>
            </a:r>
          </a:p>
          <a:p>
            <a:pPr marL="257175" indent="-257175" defTabSz="685800">
              <a:spcBef>
                <a:spcPts val="13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execute/fulfill/fill/carry out/perform </a:t>
            </a:r>
            <a:r>
              <a:rPr lang="en-US" altLang="zh-CN" sz="27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an order</a:t>
            </a:r>
          </a:p>
          <a:p>
            <a:pPr marL="257175" indent="-257175" defTabSz="685800">
              <a:spcBef>
                <a:spcPts val="13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withdraw/cancel/revoke </a:t>
            </a:r>
            <a:r>
              <a:rPr lang="en-US" altLang="zh-CN" sz="27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an order</a:t>
            </a:r>
          </a:p>
          <a:p>
            <a:pPr marL="257175" indent="-257175" defTabSz="685800">
              <a:spcBef>
                <a:spcPts val="13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be fully/heavily booked/committed</a:t>
            </a:r>
            <a:endParaRPr lang="en-US" altLang="zh-CN" sz="2700" i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1A40B1-8386-412D-9CF4-D0B94FBB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3. Acceptance &amp; order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2608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29562" y="897564"/>
            <a:ext cx="8154906" cy="40913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quality</a:t>
            </a:r>
          </a:p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quantity</a:t>
            </a:r>
          </a:p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price</a:t>
            </a:r>
          </a:p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packing</a:t>
            </a:r>
          </a:p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shipping</a:t>
            </a:r>
          </a:p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payment</a:t>
            </a:r>
          </a:p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insurance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1A40B1-8386-412D-9CF4-D0B94FBB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4. Terms in offers &amp; contracts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3647B1-AE2F-43C2-9AE1-AB78DFC30F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971" y="2949793"/>
            <a:ext cx="2258774" cy="22587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343F2AB-6D68-4E92-8F95-518BF24B8C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778" y="885343"/>
            <a:ext cx="3075075" cy="17281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DBD6569-B3D1-42C7-B062-239E893D73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02" y="2463738"/>
            <a:ext cx="1872066" cy="197059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CB06998-83B4-4A68-9D5B-A75B505E085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7" t="2156" r="15844" b="1573"/>
          <a:stretch/>
        </p:blipFill>
        <p:spPr>
          <a:xfrm>
            <a:off x="6739405" y="1386025"/>
            <a:ext cx="2258774" cy="312753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0C4A54A-BDD8-488C-BE79-1A86CC28DFD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79780">
            <a:off x="6162615" y="3642420"/>
            <a:ext cx="597133" cy="76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755" y="857631"/>
            <a:ext cx="2901395" cy="4144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Price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9532" y="897564"/>
            <a:ext cx="6588732" cy="424593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lnSpc>
                <a:spcPct val="900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 Price terms</a:t>
            </a:r>
          </a:p>
          <a:p>
            <a:pPr marL="257175" indent="-257175" defTabSz="685800">
              <a:lnSpc>
                <a:spcPct val="90000"/>
              </a:lnSpc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trade terms/price terms/delivery terms</a:t>
            </a:r>
          </a:p>
          <a:p>
            <a:pPr marL="257175" indent="-257175" defTabSz="685800">
              <a:lnSpc>
                <a:spcPct val="900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</a:t>
            </a:r>
            <a:r>
              <a:rPr lang="en-US" altLang="zh-CN" sz="2700" dirty="0">
                <a:solidFill>
                  <a:prstClr val="black"/>
                </a:solidFill>
                <a:latin typeface="Gill Sans MT" panose="020B0502020104020203" pitchFamily="34" charset="0"/>
                <a:ea typeface="宋体" panose="02010600030101010101" pitchFamily="2" charset="-122"/>
                <a:sym typeface="Wingdings 2" panose="05020102010507070707" pitchFamily="18" charset="2"/>
              </a:rPr>
              <a:t> 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the language of international trade</a:t>
            </a:r>
          </a:p>
          <a:p>
            <a:pPr marL="257175" indent="-257175" defTabSz="685800">
              <a:lnSpc>
                <a:spcPct val="90000"/>
              </a:lnSpc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Incoterms </a:t>
            </a:r>
          </a:p>
          <a:p>
            <a:pPr marL="0" indent="0" defTabSz="685800">
              <a:lnSpc>
                <a:spcPct val="900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- International Commercial Terms</a:t>
            </a:r>
          </a:p>
          <a:p>
            <a:pPr marL="334800" defTabSz="685800">
              <a:lnSpc>
                <a:spcPct val="900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688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97564"/>
            <a:ext cx="6426714" cy="424593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lnSpc>
                <a:spcPct val="90000"/>
              </a:lnSpc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Written modes:</a:t>
            </a:r>
          </a:p>
          <a:p>
            <a:pPr marL="257175" indent="-257175" defTabSz="685800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   - FOB, CIF, CFR, FAS</a:t>
            </a:r>
          </a:p>
          <a:p>
            <a:pPr marL="257175" indent="-257175" defTabSz="685800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   - fob, </a:t>
            </a:r>
            <a:r>
              <a:rPr lang="en-US" altLang="zh-CN" sz="2700" dirty="0" err="1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cif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, </a:t>
            </a:r>
            <a:r>
              <a:rPr lang="en-US" altLang="zh-CN" sz="2700" dirty="0" err="1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cfr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, </a:t>
            </a:r>
            <a:r>
              <a:rPr lang="en-US" altLang="zh-CN" sz="2700" dirty="0" err="1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fas</a:t>
            </a:r>
            <a:endParaRPr lang="en-US" altLang="zh-CN" sz="27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257175" indent="-257175" defTabSz="685800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   - F.O.B., C.I.F., C.F.R., F.A.S.</a:t>
            </a:r>
          </a:p>
          <a:p>
            <a:pPr marL="257175" indent="-257175" defTabSz="685800">
              <a:lnSpc>
                <a:spcPct val="90000"/>
              </a:lnSpc>
              <a:spcBef>
                <a:spcPts val="90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   - f.o.b., c.i.f., </a:t>
            </a:r>
            <a:r>
              <a:rPr lang="en-US" altLang="zh-CN" sz="2700" dirty="0" err="1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c.f.r.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, f.a.s.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22E7452-0AED-48E6-89D4-5825E10C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Price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8360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75556" y="843558"/>
            <a:ext cx="8154906" cy="42999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Unit price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: </a:t>
            </a:r>
          </a:p>
          <a:p>
            <a:pPr marL="0" indent="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- EUR100 per carton FOB Guangzhou </a:t>
            </a:r>
            <a:r>
              <a:rPr lang="en-US" altLang="zh-CN" sz="2700" u="sng" dirty="0">
                <a:solidFill>
                  <a:srgbClr val="0C0600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Incoterms 2020</a:t>
            </a:r>
            <a:endParaRPr lang="en-US" altLang="zh-CN" sz="27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- CNY100 per set FCA Shenzhen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net</a:t>
            </a:r>
          </a:p>
          <a:p>
            <a:pPr marL="33480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- JPY100 per yard CFR Tokyo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including 2% commission</a:t>
            </a:r>
          </a:p>
          <a:p>
            <a:pPr marL="0" indent="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- GBP100 per unit CIF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C2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London </a:t>
            </a:r>
          </a:p>
          <a:p>
            <a:pPr marL="0" indent="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- USD100 per dozen CIF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&amp; C2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New York</a:t>
            </a:r>
          </a:p>
          <a:p>
            <a:pPr marL="0" indent="0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- EUR100 per M/T CIF Hamburg </a:t>
            </a:r>
            <a:r>
              <a:rPr lang="en-US" altLang="zh-CN" sz="27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less 2% discount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06F97-1B9E-481B-B158-31761A05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Price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9199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Packing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48965" y="897564"/>
            <a:ext cx="8389510" cy="40913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900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 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bulk cargo / cargo in bulk; nude cargo</a:t>
            </a:r>
          </a:p>
          <a:p>
            <a:pPr marL="0" indent="0" defTabSz="685800">
              <a:lnSpc>
                <a:spcPct val="90000"/>
              </a:lnSpc>
              <a:buNone/>
            </a:pPr>
            <a:r>
              <a:rPr lang="zh-CN" altLang="en-US" sz="2800" dirty="0">
                <a:solidFill>
                  <a:prstClr val="black"/>
                </a:solidFill>
              </a:rPr>
              <a:t>   </a:t>
            </a:r>
            <a:r>
              <a:rPr lang="en-US" altLang="zh-CN" sz="2800" dirty="0">
                <a:solidFill>
                  <a:prstClr val="black"/>
                </a:solidFill>
              </a:rPr>
              <a:t>- in bulk </a:t>
            </a:r>
            <a:r>
              <a:rPr lang="zh-CN" altLang="en-US" sz="2800" dirty="0">
                <a:solidFill>
                  <a:prstClr val="black"/>
                </a:solidFill>
                <a:latin typeface="+mn-ea"/>
              </a:rPr>
              <a:t>散装</a:t>
            </a:r>
            <a:r>
              <a:rPr lang="en-US" altLang="zh-CN" sz="2800" dirty="0">
                <a:solidFill>
                  <a:prstClr val="black"/>
                </a:solidFill>
              </a:rPr>
              <a:t>; in nude </a:t>
            </a:r>
            <a:r>
              <a:rPr lang="zh-CN" altLang="en-US" sz="2800" dirty="0">
                <a:solidFill>
                  <a:prstClr val="black"/>
                </a:solidFill>
                <a:latin typeface="+mn-ea"/>
              </a:rPr>
              <a:t>裸装</a:t>
            </a:r>
            <a:r>
              <a:rPr lang="en-US" altLang="zh-CN" sz="2800" dirty="0">
                <a:solidFill>
                  <a:prstClr val="black"/>
                </a:solidFill>
              </a:rPr>
              <a:t>; in bundle </a:t>
            </a:r>
            <a:r>
              <a:rPr lang="zh-CN" altLang="en-US" sz="2800" dirty="0">
                <a:solidFill>
                  <a:prstClr val="black"/>
                </a:solidFill>
                <a:latin typeface="+mn-ea"/>
              </a:rPr>
              <a:t>捆装</a:t>
            </a:r>
            <a:endParaRPr lang="en-US" altLang="zh-CN" sz="2800" dirty="0">
              <a:solidFill>
                <a:prstClr val="black"/>
              </a:solidFill>
              <a:latin typeface="+mn-ea"/>
            </a:endParaRPr>
          </a:p>
          <a:p>
            <a:pPr marL="0" indent="0" defTabSz="68580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 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Packing of goods</a:t>
            </a:r>
          </a:p>
          <a:p>
            <a:pPr marL="257175" indent="-257175" defTabSz="685800">
              <a:lnSpc>
                <a:spcPct val="90000"/>
              </a:lnSpc>
              <a:spcBef>
                <a:spcPts val="9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Two types of packing:</a:t>
            </a:r>
          </a:p>
          <a:p>
            <a:pPr marL="257175" indent="-257175" defTabSz="6858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-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transport packing: outer packing, big packing</a:t>
            </a:r>
          </a:p>
          <a:p>
            <a:pPr marL="257175" indent="-257175" defTabSz="6858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 - sales packing: inner packing, small packing,</a:t>
            </a:r>
            <a:r>
              <a:rPr lang="en-US" altLang="zh-CN" sz="2800" dirty="0">
                <a:solidFill>
                  <a:prstClr val="black"/>
                </a:solidFill>
                <a:sym typeface="Wingdings" panose="05000000000000000000" pitchFamily="2" charset="2"/>
              </a:rPr>
              <a:t> immediate packing, 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packaging</a:t>
            </a:r>
            <a:endParaRPr lang="en-US" altLang="zh-CN" sz="28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9727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0B4FCD3-7430-42D3-9D38-0C5A9ACD70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766" y="1972585"/>
            <a:ext cx="1998222" cy="1318826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97564"/>
            <a:ext cx="8316924" cy="40913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lnSpc>
                <a:spcPct val="90000"/>
              </a:lnSpc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transport 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packing:</a:t>
            </a:r>
          </a:p>
          <a:p>
            <a:pPr marL="257175" indent="-257175" defTabSz="685800">
              <a:lnSpc>
                <a:spcPct val="90000"/>
              </a:lnSpc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0FCBF7-7B1B-4EED-99F1-90053C3D075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9051" r="1963"/>
          <a:stretch/>
        </p:blipFill>
        <p:spPr>
          <a:xfrm>
            <a:off x="336874" y="1311690"/>
            <a:ext cx="2862317" cy="204903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71C832-0F5F-4D0A-BE16-A2539716651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8" t="17516" r="8858" b="15744"/>
          <a:stretch/>
        </p:blipFill>
        <p:spPr>
          <a:xfrm>
            <a:off x="6570222" y="772449"/>
            <a:ext cx="2135604" cy="127314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FAF4896-102B-464C-92A3-2AFDB21DAF5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5" t="1633" r="6325" b="3665"/>
          <a:stretch/>
        </p:blipFill>
        <p:spPr>
          <a:xfrm>
            <a:off x="3383868" y="1358107"/>
            <a:ext cx="2770136" cy="189021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450B45A-9679-49A1-B18F-30E315A492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" t="12681" r="3718" b="7180"/>
          <a:stretch/>
        </p:blipFill>
        <p:spPr>
          <a:xfrm>
            <a:off x="0" y="3402272"/>
            <a:ext cx="2808312" cy="162018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9AB09FF-40C4-4052-B1E5-4E52BB1BFD89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6" t="13372" r="14563"/>
          <a:stretch/>
        </p:blipFill>
        <p:spPr>
          <a:xfrm>
            <a:off x="2781994" y="3464630"/>
            <a:ext cx="1951535" cy="153275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BF941EC-8003-4F75-9BF5-AA8D121842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611" y="3253404"/>
            <a:ext cx="2476957" cy="186059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7D003E7-DDDB-4773-8E47-AB76BF76E58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5" t="13250" r="8993" b="8001"/>
          <a:stretch/>
        </p:blipFill>
        <p:spPr>
          <a:xfrm>
            <a:off x="6754375" y="3365259"/>
            <a:ext cx="2353517" cy="1628714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B91E8A2B-9A26-44BE-A21D-7FAD3FA2D322}"/>
              </a:ext>
            </a:extLst>
          </p:cNvPr>
          <p:cNvSpPr/>
          <p:nvPr/>
        </p:nvSpPr>
        <p:spPr>
          <a:xfrm>
            <a:off x="152198" y="1331597"/>
            <a:ext cx="1119605" cy="378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21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cartons</a:t>
            </a:r>
            <a:endParaRPr lang="zh-CN" altLang="en-US" sz="21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42D713-2F37-4328-8AC0-73D761F20E99}"/>
              </a:ext>
            </a:extLst>
          </p:cNvPr>
          <p:cNvSpPr/>
          <p:nvPr/>
        </p:nvSpPr>
        <p:spPr>
          <a:xfrm>
            <a:off x="3615410" y="1014472"/>
            <a:ext cx="1829099" cy="378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21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wooden cases</a:t>
            </a:r>
            <a:endParaRPr lang="zh-CN" altLang="en-US" sz="21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1610BEE-6088-46B2-925C-1E803EB21727}"/>
              </a:ext>
            </a:extLst>
          </p:cNvPr>
          <p:cNvSpPr/>
          <p:nvPr/>
        </p:nvSpPr>
        <p:spPr>
          <a:xfrm>
            <a:off x="7789927" y="1658448"/>
            <a:ext cx="1119605" cy="378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21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crates</a:t>
            </a:r>
            <a:endParaRPr lang="zh-CN" altLang="en-US" sz="21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0DCBD6-24BF-4675-9D18-18EC14F48BD9}"/>
              </a:ext>
            </a:extLst>
          </p:cNvPr>
          <p:cNvSpPr/>
          <p:nvPr/>
        </p:nvSpPr>
        <p:spPr>
          <a:xfrm>
            <a:off x="929772" y="3248318"/>
            <a:ext cx="1119605" cy="378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21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drums</a:t>
            </a:r>
            <a:endParaRPr lang="zh-CN" altLang="en-US" sz="21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34A8CCC-40DC-46BF-8C55-D2522CD41737}"/>
              </a:ext>
            </a:extLst>
          </p:cNvPr>
          <p:cNvSpPr/>
          <p:nvPr/>
        </p:nvSpPr>
        <p:spPr>
          <a:xfrm>
            <a:off x="3142959" y="3107797"/>
            <a:ext cx="1119605" cy="378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21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bags</a:t>
            </a:r>
            <a:endParaRPr lang="zh-CN" altLang="en-US" sz="21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E951EFF-4B26-4707-AB8D-3F65A7D81A36}"/>
              </a:ext>
            </a:extLst>
          </p:cNvPr>
          <p:cNvSpPr/>
          <p:nvPr/>
        </p:nvSpPr>
        <p:spPr>
          <a:xfrm>
            <a:off x="5628203" y="3167453"/>
            <a:ext cx="1119605" cy="378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21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bales</a:t>
            </a:r>
            <a:endParaRPr lang="zh-CN" altLang="en-US" sz="21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508045-B8B3-4283-B776-C8820C593F7A}"/>
              </a:ext>
            </a:extLst>
          </p:cNvPr>
          <p:cNvSpPr/>
          <p:nvPr/>
        </p:nvSpPr>
        <p:spPr>
          <a:xfrm>
            <a:off x="7980892" y="3176238"/>
            <a:ext cx="1119605" cy="378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altLang="zh-CN" sz="21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pallets</a:t>
            </a:r>
            <a:endParaRPr lang="zh-CN" altLang="en-US" sz="21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8C276B0-A108-48BE-9267-0AE5B857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Packing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349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7544" y="951570"/>
            <a:ext cx="8478942" cy="419193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 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pack </a:t>
            </a:r>
            <a:r>
              <a:rPr lang="en-US" altLang="zh-CN" sz="2800" i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vt.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(sentence patterns):</a:t>
            </a:r>
          </a:p>
          <a:p>
            <a:pPr marL="288000" indent="-288000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packed in …</a:t>
            </a:r>
          </a:p>
          <a:p>
            <a:pPr marL="257175" indent="-257175" defTabSz="685800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- packed in … of … each</a:t>
            </a:r>
          </a:p>
          <a:p>
            <a:pPr marL="257175" indent="-257175" defTabSz="685800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- packed in …, each containing … </a:t>
            </a:r>
          </a:p>
          <a:p>
            <a:pPr marL="288000" indent="-288000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packed … to …</a:t>
            </a:r>
          </a:p>
          <a:p>
            <a:pPr marL="257175" indent="-257175" defTabSz="685800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- packed … to … and … to …</a:t>
            </a:r>
          </a:p>
          <a:p>
            <a:pPr marL="288000" indent="-288000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each packed in … and … to …</a:t>
            </a:r>
          </a:p>
          <a:p>
            <a:pPr marL="257175" indent="-257175" defTabSz="685800">
              <a:lnSpc>
                <a:spcPct val="90000"/>
              </a:lnSpc>
              <a:buNone/>
            </a:pPr>
            <a:endParaRPr lang="en-US" altLang="zh-CN" sz="24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70C937-29C7-47AE-9238-0A1D3003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Packing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4013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Shipment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32842"/>
            <a:ext cx="8424936" cy="416917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spcBef>
                <a:spcPts val="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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Cargo transport: key terms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shipment [U, C]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consignment [U, C]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cargo [U, C]; </a:t>
            </a:r>
            <a:r>
              <a:rPr lang="en-US" altLang="zh-CN" sz="2700" dirty="0">
                <a:solidFill>
                  <a:prstClr val="black"/>
                </a:solidFill>
              </a:rPr>
              <a:t>freight [U]</a:t>
            </a:r>
            <a:endParaRPr lang="en-US" altLang="zh-CN" sz="27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freight [U]; carriage [U]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carrier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consignor 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shipper 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consignee </a:t>
            </a:r>
          </a:p>
          <a:p>
            <a:pPr marL="257175" indent="-257175" defTabSz="685800">
              <a:spcBef>
                <a:spcPts val="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forwarder/forwarding agent/freight forwarder </a:t>
            </a:r>
          </a:p>
        </p:txBody>
      </p:sp>
    </p:spTree>
    <p:extLst>
      <p:ext uri="{BB962C8B-B14F-4D97-AF65-F5344CB8AC3E}">
        <p14:creationId xmlns:p14="http://schemas.microsoft.com/office/powerpoint/2010/main" val="194193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Shipment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32842"/>
            <a:ext cx="8424936" cy="416917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spcBef>
                <a:spcPts val="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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Cargo transport: key terms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loading, unloading/discharge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freight to collect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freight prepaid 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FCL: Full Container Load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LCL: Less than Container Load</a:t>
            </a:r>
          </a:p>
        </p:txBody>
      </p:sp>
    </p:spTree>
    <p:extLst>
      <p:ext uri="{BB962C8B-B14F-4D97-AF65-F5344CB8AC3E}">
        <p14:creationId xmlns:p14="http://schemas.microsoft.com/office/powerpoint/2010/main" val="166678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7544" y="832842"/>
            <a:ext cx="8316924" cy="416917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Shipment (to be effected) </a:t>
            </a:r>
            <a:r>
              <a:rPr lang="en-US" altLang="zh-CN" sz="2800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during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… from … to …, </a:t>
            </a:r>
          </a:p>
          <a:p>
            <a:pPr marL="0" indent="0" defTabSz="685800">
              <a:buNone/>
            </a:pP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-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with </a:t>
            </a:r>
            <a:r>
              <a:rPr lang="en-US" altLang="zh-CN" sz="28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partial shipment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and </a:t>
            </a:r>
            <a:r>
              <a:rPr lang="en-US" altLang="zh-CN" sz="28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transshipment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allowed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 </a:t>
            </a:r>
          </a:p>
          <a:p>
            <a:pPr marL="0" indent="0" defTabSz="685800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  (not allowed / prohibited). </a:t>
            </a:r>
          </a:p>
          <a:p>
            <a:pPr marL="0" indent="0" defTabSz="685800">
              <a:spcBef>
                <a:spcPts val="1350"/>
              </a:spcBef>
              <a:buNone/>
            </a:pP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- in 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two equal </a:t>
            </a:r>
            <a:r>
              <a:rPr lang="en-US" altLang="zh-CN" sz="28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lots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/</a:t>
            </a:r>
            <a:r>
              <a:rPr lang="en-US" altLang="zh-CN" sz="28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shipments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.</a:t>
            </a:r>
          </a:p>
          <a:p>
            <a:pPr marL="0" indent="0" defTabSz="685800">
              <a:spcBef>
                <a:spcPts val="1350"/>
              </a:spcBef>
              <a:buNone/>
            </a:pP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- in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two equal </a:t>
            </a:r>
            <a:r>
              <a:rPr lang="en-US" altLang="zh-CN" sz="28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monthly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lots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/</a:t>
            </a:r>
            <a:r>
              <a:rPr lang="en-US" altLang="zh-CN" sz="28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shipments</a:t>
            </a:r>
            <a:r>
              <a:rPr lang="en-US" altLang="zh-CN" sz="28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. </a:t>
            </a:r>
          </a:p>
          <a:p>
            <a:pPr marL="0" indent="0" defTabSz="685800">
              <a:spcBef>
                <a:spcPts val="1350"/>
              </a:spcBef>
              <a:buNone/>
            </a:pPr>
            <a:r>
              <a:rPr lang="en-US" altLang="zh-CN" sz="2800" dirty="0">
                <a:solidFill>
                  <a:prstClr val="black"/>
                </a:solidFill>
                <a:sym typeface="Wingdings" panose="05000000000000000000" pitchFamily="2" charset="2"/>
              </a:rPr>
              <a:t> - to be </a:t>
            </a:r>
            <a:r>
              <a:rPr lang="en-US" altLang="zh-CN" sz="2800" b="1" dirty="0">
                <a:solidFill>
                  <a:prstClr val="black"/>
                </a:solidFill>
                <a:sym typeface="Wingdings" panose="05000000000000000000" pitchFamily="2" charset="2"/>
              </a:rPr>
              <a:t>transshipped</a:t>
            </a:r>
            <a:r>
              <a:rPr lang="en-US" altLang="zh-CN" sz="2800" dirty="0">
                <a:solidFill>
                  <a:prstClr val="black"/>
                </a:solidFill>
                <a:sym typeface="Wingdings" panose="05000000000000000000" pitchFamily="2" charset="2"/>
              </a:rPr>
              <a:t> at Hong Kong.</a:t>
            </a:r>
            <a:endParaRPr lang="en-US" altLang="zh-CN" sz="28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 defTabSz="685800">
              <a:buNone/>
            </a:pPr>
            <a:endParaRPr lang="en-US" altLang="zh-CN" sz="2400" dirty="0">
              <a:solidFill>
                <a:prstClr val="black"/>
              </a:solidFill>
              <a:latin typeface="Calibri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6155F2-5C3F-4A43-87B7-D4682DF9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latin typeface="Candara" panose="020E0502030303020204" pitchFamily="34" charset="0"/>
                <a:ea typeface="Adobe Heiti Std R" pitchFamily="34" charset="-128"/>
              </a:rPr>
              <a:t>Shipment</a:t>
            </a:r>
            <a:endParaRPr lang="en-US" sz="3300" b="1" dirty="0">
              <a:solidFill>
                <a:schemeClr val="tx1"/>
              </a:solidFill>
              <a:latin typeface="Candara" panose="020E0502030303020204" pitchFamily="34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897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ea typeface="Adobe Heiti Std R" pitchFamily="34" charset="-128"/>
              </a:rPr>
              <a:t>Insurance</a:t>
            </a:r>
            <a:endParaRPr lang="en-US" sz="3300" b="1" dirty="0">
              <a:solidFill>
                <a:schemeClr val="tx1"/>
              </a:solidFill>
              <a:ea typeface="Adobe Heiti Std R" pitchFamily="34" charset="-128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1550" y="832842"/>
            <a:ext cx="8316924" cy="416917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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Cargo transport insurance: key terms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insurer; underwriter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the insured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insurance broker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insurance amount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insurance coverage/cover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insurance premium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insurance policy; insurance certificate</a:t>
            </a:r>
          </a:p>
        </p:txBody>
      </p:sp>
    </p:spTree>
    <p:extLst>
      <p:ext uri="{BB962C8B-B14F-4D97-AF65-F5344CB8AC3E}">
        <p14:creationId xmlns:p14="http://schemas.microsoft.com/office/powerpoint/2010/main" val="115588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7544" y="832842"/>
            <a:ext cx="8262918" cy="416917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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Cargo transport insurance: key terms</a:t>
            </a:r>
          </a:p>
          <a:p>
            <a:pPr marL="257175" indent="-257175" defTabSz="685800"/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total loss </a:t>
            </a:r>
          </a:p>
          <a:p>
            <a:pPr marL="257175" indent="-257175" defTabSz="685800"/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partial loss</a:t>
            </a:r>
          </a:p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- </a:t>
            </a:r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general average</a:t>
            </a:r>
          </a:p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- </a:t>
            </a:r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particular average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56B1879-5F22-49D5-B417-945B8792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ea typeface="Adobe Heiti Std R" pitchFamily="34" charset="-128"/>
              </a:rPr>
              <a:t>Insurance</a:t>
            </a:r>
            <a:endParaRPr lang="en-US" sz="3300" b="1" dirty="0">
              <a:solidFill>
                <a:schemeClr val="tx1"/>
              </a:solidFill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440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7544" y="789552"/>
            <a:ext cx="8316924" cy="421246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45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 2" panose="05020102010507070707" pitchFamily="18" charset="2"/>
              </a:rPr>
              <a:t>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C.I.C.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/</a:t>
            </a:r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CIC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(China Insurance Clauses)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FPA </a:t>
            </a:r>
            <a:endParaRPr lang="en-US" altLang="zh-CN" sz="27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  <a:p>
            <a:pPr marL="257175" indent="-257175" defTabSz="685800">
              <a:spcBef>
                <a:spcPts val="45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- covering mainly total loss and general average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WA/WPA</a:t>
            </a:r>
            <a:endParaRPr lang="en-US" altLang="zh-CN" sz="27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  <a:p>
            <a:pPr marL="257175" indent="-257175" defTabSz="685800">
              <a:spcBef>
                <a:spcPts val="45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= FPA + particular average caused by natural calamity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All Risks</a:t>
            </a:r>
          </a:p>
          <a:p>
            <a:pPr marL="257175" indent="-257175" defTabSz="685800">
              <a:spcBef>
                <a:spcPts val="450"/>
              </a:spcBef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= FPA + WA + general additional risks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General additional risks (11 types)</a:t>
            </a:r>
          </a:p>
          <a:p>
            <a:pPr marL="257175" indent="-257175" defTabSz="685800">
              <a:spcBef>
                <a:spcPts val="4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  <a:sym typeface="Wingdings" panose="05000000000000000000" pitchFamily="2" charset="2"/>
              </a:rPr>
              <a:t>Special additional risks (8 types)</a:t>
            </a:r>
            <a:endParaRPr lang="en-US" altLang="zh-CN" sz="27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01670" y="1275606"/>
            <a:ext cx="4374486" cy="432048"/>
          </a:xfrm>
          <a:prstGeom prst="wedgeRectCallout">
            <a:avLst>
              <a:gd name="adj1" fmla="val -55877"/>
              <a:gd name="adj2" fmla="val -487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defTabSz="685800"/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Free From Particular Average</a:t>
            </a:r>
            <a:endParaRPr lang="zh-CN" altLang="en-US" sz="27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2465766" y="2247714"/>
            <a:ext cx="5618449" cy="432048"/>
          </a:xfrm>
          <a:prstGeom prst="wedgeRectCallout">
            <a:avLst>
              <a:gd name="adj1" fmla="val -55317"/>
              <a:gd name="adj2" fmla="val -30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defTabSz="685800"/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With Average/With Particular Average</a:t>
            </a:r>
            <a:endParaRPr lang="zh-CN" altLang="en-US" sz="27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3FE872B-928E-4F1B-8588-6F8F82D3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ea typeface="Adobe Heiti Std R" pitchFamily="34" charset="-128"/>
              </a:rPr>
              <a:t>Insurance</a:t>
            </a:r>
            <a:endParaRPr lang="en-US" sz="3300" b="1" dirty="0">
              <a:solidFill>
                <a:schemeClr val="tx1"/>
              </a:solidFill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407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7544" y="832842"/>
            <a:ext cx="8370930" cy="416917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/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Under FOB/CFR/FCA/CPT terms:</a:t>
            </a:r>
          </a:p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“Insurance: To be covered by the buyer.”</a:t>
            </a:r>
          </a:p>
          <a:p>
            <a:pPr marL="257175" indent="-257175" defTabSz="685800">
              <a:spcBef>
                <a:spcPts val="1350"/>
              </a:spcBef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Under CIF/CIP terms:</a:t>
            </a:r>
          </a:p>
          <a:p>
            <a:pPr marL="257175" indent="-257175" defTabSz="685800">
              <a:buNone/>
            </a:pP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“Insurance: To be covered </a:t>
            </a:r>
            <a:r>
              <a:rPr lang="en-US" altLang="zh-CN" sz="27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by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the seller </a:t>
            </a:r>
            <a:r>
              <a:rPr lang="en-US" altLang="zh-CN" sz="27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for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110% of total invoice value </a:t>
            </a:r>
            <a:r>
              <a:rPr lang="en-US" altLang="zh-CN" sz="27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against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All Risks and War Risk, </a:t>
            </a:r>
            <a:r>
              <a:rPr lang="en-US" altLang="zh-CN" sz="2700" b="1" u="sng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as per and subject to</a:t>
            </a:r>
            <a:r>
              <a:rPr lang="en-US" altLang="zh-CN" sz="27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the relevant ocean marine cargo clauses of the China Insurance Clauses dated 1/1/1981.”</a:t>
            </a:r>
          </a:p>
          <a:p>
            <a:pPr marL="257175" indent="-257175" defTabSz="685800">
              <a:buNone/>
            </a:pPr>
            <a:endParaRPr lang="en-US" altLang="zh-CN" sz="24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96D51D-79EE-4851-93BB-A890DC126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628650"/>
          </a:xfrm>
        </p:spPr>
        <p:txBody>
          <a:bodyPr>
            <a:noAutofit/>
          </a:bodyPr>
          <a:lstStyle/>
          <a:p>
            <a:pPr algn="ctr"/>
            <a:r>
              <a:rPr lang="en-US" altLang="zh-CN" sz="3300" b="1" dirty="0">
                <a:solidFill>
                  <a:schemeClr val="tx1"/>
                </a:solidFill>
                <a:ea typeface="Adobe Heiti Std R" pitchFamily="34" charset="-128"/>
              </a:rPr>
              <a:t>Insurance</a:t>
            </a:r>
            <a:endParaRPr lang="en-US" sz="3300" b="1" dirty="0">
              <a:solidFill>
                <a:schemeClr val="tx1"/>
              </a:solidFill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487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主题4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47" id="{E8624FC3-FEC0-4579-BDD2-9D1D72D0E3D7}" vid="{05BA49B6-F919-463D-B8E2-B0DA59238CD7}"/>
    </a:ext>
  </a:extLst>
</a:theme>
</file>

<file path=ppt/theme/theme3.xml><?xml version="1.0" encoding="utf-8"?>
<a:theme xmlns:a="http://schemas.openxmlformats.org/drawingml/2006/main" name="N0014">
  <a:themeElements>
    <a:clrScheme name="Custom 58">
      <a:dk1>
        <a:srgbClr val="0C0600"/>
      </a:dk1>
      <a:lt1>
        <a:srgbClr val="FFFFFF"/>
      </a:lt1>
      <a:dk2>
        <a:srgbClr val="03B0B9"/>
      </a:dk2>
      <a:lt2>
        <a:srgbClr val="7BDEFD"/>
      </a:lt2>
      <a:accent1>
        <a:srgbClr val="9CBCC4"/>
      </a:accent1>
      <a:accent2>
        <a:srgbClr val="DCE9EC"/>
      </a:accent2>
      <a:accent3>
        <a:srgbClr val="9AA5A8"/>
      </a:accent3>
      <a:accent4>
        <a:srgbClr val="005658"/>
      </a:accent4>
      <a:accent5>
        <a:srgbClr val="14CECE"/>
      </a:accent5>
      <a:accent6>
        <a:srgbClr val="ECF6F8"/>
      </a:accent6>
      <a:hlink>
        <a:srgbClr val="FFFFFF"/>
      </a:hlink>
      <a:folHlink>
        <a:srgbClr val="0051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主题4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47" id="{E8624FC3-FEC0-4579-BDD2-9D1D72D0E3D7}" vid="{05BA49B6-F919-463D-B8E2-B0DA59238CD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1500</Words>
  <Application>Microsoft Office PowerPoint</Application>
  <PresentationFormat>全屏显示(16:9)</PresentationFormat>
  <Paragraphs>206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楷体</vt:lpstr>
      <vt:lpstr>宋体</vt:lpstr>
      <vt:lpstr>Arial</vt:lpstr>
      <vt:lpstr>Calibri</vt:lpstr>
      <vt:lpstr>Candara</vt:lpstr>
      <vt:lpstr>Gill Sans MT</vt:lpstr>
      <vt:lpstr>Office Theme</vt:lpstr>
      <vt:lpstr>主题47</vt:lpstr>
      <vt:lpstr>N0014</vt:lpstr>
      <vt:lpstr>1_主题47</vt:lpstr>
      <vt:lpstr>1. Inquiry/Enquiry</vt:lpstr>
      <vt:lpstr>2. Offer</vt:lpstr>
      <vt:lpstr>2. Offer: firm offer</vt:lpstr>
      <vt:lpstr>2. Offer</vt:lpstr>
      <vt:lpstr>2. Offer: non-firm offer</vt:lpstr>
      <vt:lpstr>Exercises: Offer</vt:lpstr>
      <vt:lpstr>2. Offer</vt:lpstr>
      <vt:lpstr>2. Offer</vt:lpstr>
      <vt:lpstr>2. Offer</vt:lpstr>
      <vt:lpstr>2. Offer</vt:lpstr>
      <vt:lpstr>2. Offer</vt:lpstr>
      <vt:lpstr>PowerPoint 演示文稿</vt:lpstr>
      <vt:lpstr>3. Acceptance &amp; order</vt:lpstr>
      <vt:lpstr>4. Terms in offers &amp; contracts</vt:lpstr>
      <vt:lpstr>Price</vt:lpstr>
      <vt:lpstr>Price</vt:lpstr>
      <vt:lpstr>Price</vt:lpstr>
      <vt:lpstr>Packing</vt:lpstr>
      <vt:lpstr>Packing</vt:lpstr>
      <vt:lpstr>Packing</vt:lpstr>
      <vt:lpstr>Shipment</vt:lpstr>
      <vt:lpstr>Shipment</vt:lpstr>
      <vt:lpstr>Shipment</vt:lpstr>
      <vt:lpstr>Insurance</vt:lpstr>
      <vt:lpstr>Insurance</vt:lpstr>
      <vt:lpstr>Insurance</vt:lpstr>
      <vt:lpstr>Insurance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2026-06-09T06:26:48Z</dcterms:modified>
</cp:coreProperties>
</file>