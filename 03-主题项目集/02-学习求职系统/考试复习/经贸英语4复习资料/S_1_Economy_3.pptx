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1" r:id="rId2"/>
  </p:sldMasterIdLst>
  <p:notesMasterIdLst>
    <p:notesMasterId r:id="rId22"/>
  </p:notesMasterIdLst>
  <p:sldIdLst>
    <p:sldId id="419" r:id="rId3"/>
    <p:sldId id="565" r:id="rId4"/>
    <p:sldId id="301" r:id="rId5"/>
    <p:sldId id="391" r:id="rId6"/>
    <p:sldId id="412" r:id="rId7"/>
    <p:sldId id="566" r:id="rId8"/>
    <p:sldId id="506" r:id="rId9"/>
    <p:sldId id="529" r:id="rId10"/>
    <p:sldId id="556" r:id="rId11"/>
    <p:sldId id="592" r:id="rId12"/>
    <p:sldId id="593" r:id="rId13"/>
    <p:sldId id="586" r:id="rId14"/>
    <p:sldId id="577" r:id="rId15"/>
    <p:sldId id="431" r:id="rId16"/>
    <p:sldId id="594" r:id="rId17"/>
    <p:sldId id="550" r:id="rId18"/>
    <p:sldId id="439" r:id="rId19"/>
    <p:sldId id="590" r:id="rId20"/>
    <p:sldId id="591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87032"/>
    <a:srgbClr val="053F79"/>
    <a:srgbClr val="616976"/>
    <a:srgbClr val="FFFFFF"/>
    <a:srgbClr val="D2DDD8"/>
    <a:srgbClr val="B0B3BA"/>
    <a:srgbClr val="601700"/>
    <a:srgbClr val="F6E56A"/>
    <a:srgbClr val="FBE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8" autoAdjust="0"/>
  </p:normalViewPr>
  <p:slideViewPr>
    <p:cSldViewPr>
      <p:cViewPr varScale="1">
        <p:scale>
          <a:sx n="154" d="100"/>
          <a:sy n="154" d="100"/>
        </p:scale>
        <p:origin x="70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798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E85EF-781B-47A1-BC08-F4D09F8282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240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2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E85EF-781B-47A1-BC08-F4D09F8282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391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E85EF-781B-47A1-BC08-F4D09F8282C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91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8E85EF-781B-47A1-BC08-F4D09F8282C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042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296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39225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778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493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616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533E96-F078-4B3D-A8F4-F1AF21EBC3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78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3309" y="1960930"/>
            <a:ext cx="3512215" cy="1068935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75" y="1502815"/>
            <a:ext cx="7787955" cy="183246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-1"/>
            <a:ext cx="7940660" cy="119740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350110"/>
            <a:ext cx="7940660" cy="3359510"/>
          </a:xfrm>
        </p:spPr>
        <p:txBody>
          <a:bodyPr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B5196F-4EE5-4618-9E10-84153592557A}"/>
              </a:ext>
            </a:extLst>
          </p:cNvPr>
          <p:cNvSpPr/>
          <p:nvPr userDrawn="1"/>
        </p:nvSpPr>
        <p:spPr>
          <a:xfrm>
            <a:off x="0" y="0"/>
            <a:ext cx="915315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A9FA9436-F6C1-47F8-8957-8DC7E91818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59785" y="739290"/>
            <a:ext cx="5989500" cy="0"/>
          </a:xfrm>
          <a:prstGeom prst="line">
            <a:avLst/>
          </a:prstGeom>
          <a:solidFill>
            <a:srgbClr val="C00000">
              <a:lumMod val="75000"/>
            </a:srgbClr>
          </a:solidFill>
          <a:ln w="9525">
            <a:solidFill>
              <a:srgbClr val="760000"/>
            </a:solidFill>
            <a:round/>
            <a:headEnd/>
            <a:tailEnd/>
          </a:ln>
        </p:spPr>
        <p:txBody>
          <a:bodyPr wrap="none" lIns="109678" tIns="54838" rIns="109678" bIns="54838" anchor="ctr"/>
          <a:lstStyle/>
          <a:p>
            <a:pPr marL="0" marR="0" lvl="0" indent="0" defTabSz="10698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25D178-4E9B-4DFE-ABB5-A916E5412730}"/>
              </a:ext>
            </a:extLst>
          </p:cNvPr>
          <p:cNvGrpSpPr/>
          <p:nvPr/>
        </p:nvGrpSpPr>
        <p:grpSpPr>
          <a:xfrm flipV="1">
            <a:off x="0" y="-82343"/>
            <a:ext cx="1114426" cy="1257992"/>
            <a:chOff x="1381424" y="696895"/>
            <a:chExt cx="1477389" cy="16677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任意多边形 19">
              <a:extLst>
                <a:ext uri="{FF2B5EF4-FFF2-40B4-BE49-F238E27FC236}">
                  <a16:creationId xmlns:a16="http://schemas.microsoft.com/office/drawing/2014/main" id="{68F24D17-24A4-4B6F-AB2E-E26FF9ADE13C}"/>
                </a:ext>
              </a:extLst>
            </p:cNvPr>
            <p:cNvSpPr/>
            <p:nvPr/>
          </p:nvSpPr>
          <p:spPr>
            <a:xfrm rot="2700000">
              <a:off x="1513322" y="1019117"/>
              <a:ext cx="1667713" cy="1023269"/>
            </a:xfrm>
            <a:custGeom>
              <a:avLst/>
              <a:gdLst>
                <a:gd name="connsiteX0" fmla="*/ 0 w 1667713"/>
                <a:gd name="connsiteY0" fmla="*/ 456881 h 1023269"/>
                <a:gd name="connsiteX1" fmla="*/ 412332 w 1667713"/>
                <a:gd name="connsiteY1" fmla="*/ 44549 h 1023269"/>
                <a:gd name="connsiteX2" fmla="*/ 412333 w 1667713"/>
                <a:gd name="connsiteY2" fmla="*/ 44549 h 1023269"/>
                <a:gd name="connsiteX3" fmla="*/ 456882 w 1667713"/>
                <a:gd name="connsiteY3" fmla="*/ 0 h 1023269"/>
                <a:gd name="connsiteX4" fmla="*/ 1514743 w 1667713"/>
                <a:gd name="connsiteY4" fmla="*/ 0 h 1023269"/>
                <a:gd name="connsiteX5" fmla="*/ 1667713 w 1667713"/>
                <a:gd name="connsiteY5" fmla="*/ 152970 h 1023269"/>
                <a:gd name="connsiteX6" fmla="*/ 1667713 w 1667713"/>
                <a:gd name="connsiteY6" fmla="*/ 704806 h 1023269"/>
                <a:gd name="connsiteX7" fmla="*/ 1349251 w 1667713"/>
                <a:gd name="connsiteY7" fmla="*/ 1023269 h 1023269"/>
                <a:gd name="connsiteX8" fmla="*/ 1349251 w 1667713"/>
                <a:gd name="connsiteY8" fmla="*/ 318462 h 1023269"/>
                <a:gd name="connsiteX9" fmla="*/ 138420 w 1667713"/>
                <a:gd name="connsiteY9" fmla="*/ 318462 h 1023269"/>
                <a:gd name="connsiteX10" fmla="*/ 1 w 1667713"/>
                <a:gd name="connsiteY10" fmla="*/ 456881 h 102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713" h="1023269">
                  <a:moveTo>
                    <a:pt x="0" y="456881"/>
                  </a:moveTo>
                  <a:lnTo>
                    <a:pt x="412332" y="44549"/>
                  </a:lnTo>
                  <a:lnTo>
                    <a:pt x="412333" y="44549"/>
                  </a:lnTo>
                  <a:lnTo>
                    <a:pt x="456882" y="0"/>
                  </a:lnTo>
                  <a:lnTo>
                    <a:pt x="1514743" y="0"/>
                  </a:lnTo>
                  <a:cubicBezTo>
                    <a:pt x="1599226" y="1"/>
                    <a:pt x="1667713" y="68487"/>
                    <a:pt x="1667713" y="152970"/>
                  </a:cubicBezTo>
                  <a:lnTo>
                    <a:pt x="1667713" y="704806"/>
                  </a:lnTo>
                  <a:lnTo>
                    <a:pt x="1349251" y="1023269"/>
                  </a:lnTo>
                  <a:lnTo>
                    <a:pt x="1349251" y="318462"/>
                  </a:lnTo>
                  <a:lnTo>
                    <a:pt x="138420" y="318462"/>
                  </a:lnTo>
                  <a:lnTo>
                    <a:pt x="1" y="456881"/>
                  </a:lnTo>
                  <a:close/>
                </a:path>
              </a:pathLst>
            </a:custGeom>
            <a:solidFill>
              <a:srgbClr val="E92E25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任意多边形 20">
              <a:extLst>
                <a:ext uri="{FF2B5EF4-FFF2-40B4-BE49-F238E27FC236}">
                  <a16:creationId xmlns:a16="http://schemas.microsoft.com/office/drawing/2014/main" id="{106E6800-F3A4-4310-88C6-D41219A3354A}"/>
                </a:ext>
              </a:extLst>
            </p:cNvPr>
            <p:cNvSpPr/>
            <p:nvPr/>
          </p:nvSpPr>
          <p:spPr>
            <a:xfrm rot="2700000">
              <a:off x="1245384" y="1172018"/>
              <a:ext cx="1228628" cy="956548"/>
            </a:xfrm>
            <a:custGeom>
              <a:avLst/>
              <a:gdLst>
                <a:gd name="connsiteX0" fmla="*/ 303771 w 1228628"/>
                <a:gd name="connsiteY0" fmla="*/ 32819 h 956548"/>
                <a:gd name="connsiteX1" fmla="*/ 303771 w 1228628"/>
                <a:gd name="connsiteY1" fmla="*/ 32820 h 956548"/>
                <a:gd name="connsiteX2" fmla="*/ 336591 w 1228628"/>
                <a:gd name="connsiteY2" fmla="*/ 0 h 956548"/>
                <a:gd name="connsiteX3" fmla="*/ 1115933 w 1228628"/>
                <a:gd name="connsiteY3" fmla="*/ 0 h 956548"/>
                <a:gd name="connsiteX4" fmla="*/ 1228628 w 1228628"/>
                <a:gd name="connsiteY4" fmla="*/ 112695 h 956548"/>
                <a:gd name="connsiteX5" fmla="*/ 1228628 w 1228628"/>
                <a:gd name="connsiteY5" fmla="*/ 721932 h 956548"/>
                <a:gd name="connsiteX6" fmla="*/ 994013 w 1228628"/>
                <a:gd name="connsiteY6" fmla="*/ 956548 h 956548"/>
                <a:gd name="connsiteX7" fmla="*/ 994013 w 1228628"/>
                <a:gd name="connsiteY7" fmla="*/ 234616 h 956548"/>
                <a:gd name="connsiteX8" fmla="*/ 101975 w 1228628"/>
                <a:gd name="connsiteY8" fmla="*/ 234616 h 956548"/>
                <a:gd name="connsiteX9" fmla="*/ 0 w 1228628"/>
                <a:gd name="connsiteY9" fmla="*/ 336591 h 95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8628" h="956548">
                  <a:moveTo>
                    <a:pt x="303771" y="32819"/>
                  </a:moveTo>
                  <a:lnTo>
                    <a:pt x="303771" y="32820"/>
                  </a:lnTo>
                  <a:lnTo>
                    <a:pt x="336591" y="0"/>
                  </a:lnTo>
                  <a:lnTo>
                    <a:pt x="1115933" y="0"/>
                  </a:lnTo>
                  <a:cubicBezTo>
                    <a:pt x="1178173" y="0"/>
                    <a:pt x="1228628" y="50456"/>
                    <a:pt x="1228628" y="112695"/>
                  </a:cubicBezTo>
                  <a:lnTo>
                    <a:pt x="1228628" y="721932"/>
                  </a:lnTo>
                  <a:lnTo>
                    <a:pt x="994013" y="956548"/>
                  </a:lnTo>
                  <a:lnTo>
                    <a:pt x="994013" y="234616"/>
                  </a:lnTo>
                  <a:lnTo>
                    <a:pt x="101975" y="234616"/>
                  </a:lnTo>
                  <a:lnTo>
                    <a:pt x="0" y="336591"/>
                  </a:lnTo>
                  <a:close/>
                </a:path>
              </a:pathLst>
            </a:custGeom>
            <a:solidFill>
              <a:srgbClr val="F7B61D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785" y="433880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785" y="1350110"/>
            <a:ext cx="6413610" cy="335951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-1"/>
            <a:ext cx="8246070" cy="119740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80822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28062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80822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8062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3309" y="1960930"/>
            <a:ext cx="3512215" cy="1068935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75" y="1502815"/>
            <a:ext cx="7787955" cy="183246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95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-1"/>
            <a:ext cx="7940660" cy="119740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70" y="1350110"/>
            <a:ext cx="7940660" cy="3359510"/>
          </a:xfrm>
        </p:spPr>
        <p:txBody>
          <a:bodyPr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B5196F-4EE5-4618-9E10-84153592557A}"/>
              </a:ext>
            </a:extLst>
          </p:cNvPr>
          <p:cNvSpPr/>
          <p:nvPr userDrawn="1"/>
        </p:nvSpPr>
        <p:spPr>
          <a:xfrm>
            <a:off x="0" y="0"/>
            <a:ext cx="915315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A9FA9436-F6C1-47F8-8957-8DC7E91818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59785" y="739290"/>
            <a:ext cx="5989500" cy="0"/>
          </a:xfrm>
          <a:prstGeom prst="line">
            <a:avLst/>
          </a:prstGeom>
          <a:solidFill>
            <a:srgbClr val="C00000">
              <a:lumMod val="75000"/>
            </a:srgbClr>
          </a:solidFill>
          <a:ln w="9525">
            <a:solidFill>
              <a:srgbClr val="760000"/>
            </a:solidFill>
            <a:round/>
            <a:headEnd/>
            <a:tailEnd/>
          </a:ln>
        </p:spPr>
        <p:txBody>
          <a:bodyPr wrap="none" lIns="109678" tIns="54838" rIns="109678" bIns="54838" anchor="ctr"/>
          <a:lstStyle/>
          <a:p>
            <a:pPr marL="0" marR="0" lvl="0" indent="0" defTabSz="106984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B25D178-4E9B-4DFE-ABB5-A916E5412730}"/>
              </a:ext>
            </a:extLst>
          </p:cNvPr>
          <p:cNvGrpSpPr/>
          <p:nvPr userDrawn="1"/>
        </p:nvGrpSpPr>
        <p:grpSpPr>
          <a:xfrm flipV="1">
            <a:off x="0" y="-82343"/>
            <a:ext cx="1114426" cy="1257992"/>
            <a:chOff x="1381424" y="696895"/>
            <a:chExt cx="1477389" cy="16677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任意多边形 19">
              <a:extLst>
                <a:ext uri="{FF2B5EF4-FFF2-40B4-BE49-F238E27FC236}">
                  <a16:creationId xmlns:a16="http://schemas.microsoft.com/office/drawing/2014/main" id="{68F24D17-24A4-4B6F-AB2E-E26FF9ADE13C}"/>
                </a:ext>
              </a:extLst>
            </p:cNvPr>
            <p:cNvSpPr/>
            <p:nvPr/>
          </p:nvSpPr>
          <p:spPr>
            <a:xfrm rot="2700000">
              <a:off x="1513322" y="1019117"/>
              <a:ext cx="1667713" cy="1023269"/>
            </a:xfrm>
            <a:custGeom>
              <a:avLst/>
              <a:gdLst>
                <a:gd name="connsiteX0" fmla="*/ 0 w 1667713"/>
                <a:gd name="connsiteY0" fmla="*/ 456881 h 1023269"/>
                <a:gd name="connsiteX1" fmla="*/ 412332 w 1667713"/>
                <a:gd name="connsiteY1" fmla="*/ 44549 h 1023269"/>
                <a:gd name="connsiteX2" fmla="*/ 412333 w 1667713"/>
                <a:gd name="connsiteY2" fmla="*/ 44549 h 1023269"/>
                <a:gd name="connsiteX3" fmla="*/ 456882 w 1667713"/>
                <a:gd name="connsiteY3" fmla="*/ 0 h 1023269"/>
                <a:gd name="connsiteX4" fmla="*/ 1514743 w 1667713"/>
                <a:gd name="connsiteY4" fmla="*/ 0 h 1023269"/>
                <a:gd name="connsiteX5" fmla="*/ 1667713 w 1667713"/>
                <a:gd name="connsiteY5" fmla="*/ 152970 h 1023269"/>
                <a:gd name="connsiteX6" fmla="*/ 1667713 w 1667713"/>
                <a:gd name="connsiteY6" fmla="*/ 704806 h 1023269"/>
                <a:gd name="connsiteX7" fmla="*/ 1349251 w 1667713"/>
                <a:gd name="connsiteY7" fmla="*/ 1023269 h 1023269"/>
                <a:gd name="connsiteX8" fmla="*/ 1349251 w 1667713"/>
                <a:gd name="connsiteY8" fmla="*/ 318462 h 1023269"/>
                <a:gd name="connsiteX9" fmla="*/ 138420 w 1667713"/>
                <a:gd name="connsiteY9" fmla="*/ 318462 h 1023269"/>
                <a:gd name="connsiteX10" fmla="*/ 1 w 1667713"/>
                <a:gd name="connsiteY10" fmla="*/ 456881 h 102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713" h="1023269">
                  <a:moveTo>
                    <a:pt x="0" y="456881"/>
                  </a:moveTo>
                  <a:lnTo>
                    <a:pt x="412332" y="44549"/>
                  </a:lnTo>
                  <a:lnTo>
                    <a:pt x="412333" y="44549"/>
                  </a:lnTo>
                  <a:lnTo>
                    <a:pt x="456882" y="0"/>
                  </a:lnTo>
                  <a:lnTo>
                    <a:pt x="1514743" y="0"/>
                  </a:lnTo>
                  <a:cubicBezTo>
                    <a:pt x="1599226" y="1"/>
                    <a:pt x="1667713" y="68487"/>
                    <a:pt x="1667713" y="152970"/>
                  </a:cubicBezTo>
                  <a:lnTo>
                    <a:pt x="1667713" y="704806"/>
                  </a:lnTo>
                  <a:lnTo>
                    <a:pt x="1349251" y="1023269"/>
                  </a:lnTo>
                  <a:lnTo>
                    <a:pt x="1349251" y="318462"/>
                  </a:lnTo>
                  <a:lnTo>
                    <a:pt x="138420" y="318462"/>
                  </a:lnTo>
                  <a:lnTo>
                    <a:pt x="1" y="456881"/>
                  </a:lnTo>
                  <a:close/>
                </a:path>
              </a:pathLst>
            </a:custGeom>
            <a:solidFill>
              <a:srgbClr val="E92E25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8" name="任意多边形 20">
              <a:extLst>
                <a:ext uri="{FF2B5EF4-FFF2-40B4-BE49-F238E27FC236}">
                  <a16:creationId xmlns:a16="http://schemas.microsoft.com/office/drawing/2014/main" id="{106E6800-F3A4-4310-88C6-D41219A3354A}"/>
                </a:ext>
              </a:extLst>
            </p:cNvPr>
            <p:cNvSpPr/>
            <p:nvPr/>
          </p:nvSpPr>
          <p:spPr>
            <a:xfrm rot="2700000">
              <a:off x="1245384" y="1172018"/>
              <a:ext cx="1228628" cy="956548"/>
            </a:xfrm>
            <a:custGeom>
              <a:avLst/>
              <a:gdLst>
                <a:gd name="connsiteX0" fmla="*/ 303771 w 1228628"/>
                <a:gd name="connsiteY0" fmla="*/ 32819 h 956548"/>
                <a:gd name="connsiteX1" fmla="*/ 303771 w 1228628"/>
                <a:gd name="connsiteY1" fmla="*/ 32820 h 956548"/>
                <a:gd name="connsiteX2" fmla="*/ 336591 w 1228628"/>
                <a:gd name="connsiteY2" fmla="*/ 0 h 956548"/>
                <a:gd name="connsiteX3" fmla="*/ 1115933 w 1228628"/>
                <a:gd name="connsiteY3" fmla="*/ 0 h 956548"/>
                <a:gd name="connsiteX4" fmla="*/ 1228628 w 1228628"/>
                <a:gd name="connsiteY4" fmla="*/ 112695 h 956548"/>
                <a:gd name="connsiteX5" fmla="*/ 1228628 w 1228628"/>
                <a:gd name="connsiteY5" fmla="*/ 721932 h 956548"/>
                <a:gd name="connsiteX6" fmla="*/ 994013 w 1228628"/>
                <a:gd name="connsiteY6" fmla="*/ 956548 h 956548"/>
                <a:gd name="connsiteX7" fmla="*/ 994013 w 1228628"/>
                <a:gd name="connsiteY7" fmla="*/ 234616 h 956548"/>
                <a:gd name="connsiteX8" fmla="*/ 101975 w 1228628"/>
                <a:gd name="connsiteY8" fmla="*/ 234616 h 956548"/>
                <a:gd name="connsiteX9" fmla="*/ 0 w 1228628"/>
                <a:gd name="connsiteY9" fmla="*/ 336591 h 95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28628" h="956548">
                  <a:moveTo>
                    <a:pt x="303771" y="32819"/>
                  </a:moveTo>
                  <a:lnTo>
                    <a:pt x="303771" y="32820"/>
                  </a:lnTo>
                  <a:lnTo>
                    <a:pt x="336591" y="0"/>
                  </a:lnTo>
                  <a:lnTo>
                    <a:pt x="1115933" y="0"/>
                  </a:lnTo>
                  <a:cubicBezTo>
                    <a:pt x="1178173" y="0"/>
                    <a:pt x="1228628" y="50456"/>
                    <a:pt x="1228628" y="112695"/>
                  </a:cubicBezTo>
                  <a:lnTo>
                    <a:pt x="1228628" y="721932"/>
                  </a:lnTo>
                  <a:lnTo>
                    <a:pt x="994013" y="956548"/>
                  </a:lnTo>
                  <a:lnTo>
                    <a:pt x="994013" y="234616"/>
                  </a:lnTo>
                  <a:lnTo>
                    <a:pt x="101975" y="234616"/>
                  </a:lnTo>
                  <a:lnTo>
                    <a:pt x="0" y="336591"/>
                  </a:lnTo>
                  <a:close/>
                </a:path>
              </a:pathLst>
            </a:custGeom>
            <a:solidFill>
              <a:srgbClr val="F7B61D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0227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785" y="433880"/>
            <a:ext cx="6413610" cy="916229"/>
          </a:xfrm>
          <a:noFill/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785" y="1350110"/>
            <a:ext cx="6413610" cy="3359510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1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58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90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-1"/>
            <a:ext cx="8246070" cy="119740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7" y="1808225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7" y="228062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808225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28062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algn="ctr"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789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51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847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76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51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82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578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58355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E634179D-F776-4EB4-80B7-A301557F0D39}"/>
              </a:ext>
            </a:extLst>
          </p:cNvPr>
          <p:cNvGraphicFramePr>
            <a:graphicFrameLocks/>
          </p:cNvGraphicFramePr>
          <p:nvPr/>
        </p:nvGraphicFramePr>
        <p:xfrm>
          <a:off x="55514" y="974853"/>
          <a:ext cx="8923279" cy="3957319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35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73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+mn-lt"/>
                        </a:rPr>
                        <a:t>Basic economic system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16000" indent="-21600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 公有制为主体、多种所有制经济共同发展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;</a:t>
                      </a:r>
                    </a:p>
                    <a:p>
                      <a:pPr marL="144000" indent="-457200" algn="l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    按劳分配为主体、多种分配方式并存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;</a:t>
                      </a:r>
                    </a:p>
                    <a:p>
                      <a:pPr marL="144000" indent="-457200" algn="l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latin typeface="+mn-lt"/>
                        </a:rPr>
                        <a:t>    社会主义市场经济体制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D0761995-1628-4DF1-8FFE-4761BE54959F}"/>
              </a:ext>
            </a:extLst>
          </p:cNvPr>
          <p:cNvSpPr/>
          <p:nvPr/>
        </p:nvSpPr>
        <p:spPr>
          <a:xfrm>
            <a:off x="2509630" y="1044700"/>
            <a:ext cx="6108200" cy="1374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DBF905-5E22-44E5-9B72-A6BAA6A94011}"/>
              </a:ext>
            </a:extLst>
          </p:cNvPr>
          <p:cNvSpPr/>
          <p:nvPr/>
        </p:nvSpPr>
        <p:spPr>
          <a:xfrm>
            <a:off x="2500624" y="891995"/>
            <a:ext cx="6478169" cy="3817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Basic socialist economic systems, including 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system under which public ownership is the mainstay and diverse forms of ownership develop together, 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system under which distribution according to work is the mainstay while multiple forms of distribution exist alongside it, 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socialist market economy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108283A-09D4-43D1-8E89-0DD780E913B8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525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0294" y="889469"/>
            <a:ext cx="9033706" cy="4123034"/>
          </a:xfrm>
        </p:spPr>
        <p:txBody>
          <a:bodyPr>
            <a:noAutofit/>
          </a:bodyPr>
          <a:lstStyle/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促进各种所有制经济优势互补、共同发展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324000" indent="-457200">
              <a:spcBef>
                <a:spcPts val="60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Economic entities under diverse forms of ownership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complement each other and develop side by side.</a:t>
            </a:r>
          </a:p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深化国资国企改革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 - to</a:t>
            </a:r>
            <a:r>
              <a:rPr lang="zh-CN" altLang="en-US" sz="2400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deepen reform of state capital and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state-owned enterprises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(SOEs)</a:t>
            </a:r>
          </a:p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发展壮大民营经济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 - to help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the private sector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grow bigger and stronger</a:t>
            </a:r>
          </a:p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支持中小企业和个体工商户发展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- to support the development of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SMEs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and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self-employed individuals</a:t>
            </a:r>
            <a:endParaRPr lang="en-US" altLang="zh-CN" sz="2400" b="1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2246" y="128470"/>
            <a:ext cx="4275740" cy="544103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15</a:t>
            </a:r>
            <a:r>
              <a:rPr lang="en-US" altLang="zh-CN" b="1" baseline="30000" dirty="0">
                <a:solidFill>
                  <a:schemeClr val="tx1"/>
                </a:solidFill>
                <a:latin typeface="Candara" panose="020E0502030303020204" pitchFamily="34" charset="0"/>
              </a:rPr>
              <a:t>th</a:t>
            </a:r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 Five-Year Plan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909C9E-BC19-4546-BB10-A0595E72EC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8108">
            <a:off x="1469502" y="-126694"/>
            <a:ext cx="1376291" cy="10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46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41481"/>
            <a:ext cx="5019261" cy="54410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2149" y="1044700"/>
            <a:ext cx="8599702" cy="3804615"/>
          </a:xfrm>
        </p:spPr>
        <p:txBody>
          <a:bodyPr>
            <a:noAutofit/>
          </a:bodyPr>
          <a:lstStyle/>
          <a:p>
            <a:pPr marL="324000" indent="-324000"/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Gross Domestic Product</a:t>
            </a:r>
          </a:p>
          <a:p>
            <a:pPr marL="324000" indent="-324000"/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nominal GDP: money-value measure (at the current market prices) </a:t>
            </a:r>
          </a:p>
          <a:p>
            <a:pPr marL="324000" indent="-324000"/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real GDP: inflation-adjusted measure (adjusted for price changes, i.e. inflation or deflation)</a:t>
            </a:r>
          </a:p>
          <a:p>
            <a:pPr marL="324000" indent="-324000"/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GDP per capita </a:t>
            </a:r>
          </a:p>
          <a:p>
            <a:pPr marL="324000" indent="-324000"/>
            <a:r>
              <a:rPr lang="en-US" altLang="zh-CN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GDP annual growth rate </a:t>
            </a:r>
            <a:endParaRPr lang="en-US" altLang="zh-CN" dirty="0"/>
          </a:p>
          <a:p>
            <a:pPr marL="0" indent="0">
              <a:buNone/>
            </a:pPr>
            <a:endParaRPr lang="zh-CN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79307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511" y="1003444"/>
            <a:ext cx="8677229" cy="3858621"/>
          </a:xfrm>
        </p:spPr>
        <p:txBody>
          <a:bodyPr>
            <a:normAutofit/>
          </a:bodyPr>
          <a:lstStyle/>
          <a:p>
            <a:pPr marL="216000" indent="-216000"/>
            <a:r>
              <a:rPr lang="en-US" altLang="zh-CN" dirty="0">
                <a:solidFill>
                  <a:schemeClr val="tx1"/>
                </a:solidFill>
              </a:rPr>
              <a:t>China’s GDP </a:t>
            </a:r>
            <a:r>
              <a:rPr lang="en-US" altLang="zh-CN" b="1" dirty="0">
                <a:solidFill>
                  <a:schemeClr val="tx1"/>
                </a:solidFill>
              </a:rPr>
              <a:t>grew by </a:t>
            </a:r>
            <a:r>
              <a:rPr lang="en-US" altLang="zh-CN" dirty="0">
                <a:solidFill>
                  <a:schemeClr val="tx1"/>
                </a:solidFill>
              </a:rPr>
              <a:t>2.3 percent </a:t>
            </a:r>
            <a:r>
              <a:rPr lang="en-US" altLang="zh-CN" b="1" dirty="0">
                <a:solidFill>
                  <a:schemeClr val="tx1"/>
                </a:solidFill>
              </a:rPr>
              <a:t>year on year</a:t>
            </a:r>
            <a:r>
              <a:rPr lang="en-US" altLang="zh-CN" dirty="0">
                <a:solidFill>
                  <a:schemeClr val="tx1"/>
                </a:solidFill>
              </a:rPr>
              <a:t> to </a:t>
            </a:r>
            <a:r>
              <a:rPr lang="en-US" altLang="zh-CN" b="1" dirty="0">
                <a:solidFill>
                  <a:schemeClr val="tx1"/>
                </a:solidFill>
              </a:rPr>
              <a:t>hit</a:t>
            </a:r>
            <a:r>
              <a:rPr lang="en-US" altLang="zh-CN" dirty="0">
                <a:solidFill>
                  <a:schemeClr val="tx1"/>
                </a:solidFill>
              </a:rPr>
              <a:t> 101.6 trillion yuan (about 15.7 trillion U.S. dollars) in 2020, </a:t>
            </a:r>
            <a:r>
              <a:rPr lang="en-US" altLang="zh-CN" b="1" dirty="0">
                <a:solidFill>
                  <a:schemeClr val="tx1"/>
                </a:solidFill>
              </a:rPr>
              <a:t>surpassing</a:t>
            </a:r>
            <a:r>
              <a:rPr lang="en-US" altLang="zh-CN" dirty="0">
                <a:solidFill>
                  <a:schemeClr val="tx1"/>
                </a:solidFill>
              </a:rPr>
              <a:t> the 100 trillion yuan </a:t>
            </a:r>
            <a:r>
              <a:rPr lang="en-US" altLang="zh-CN" b="1" dirty="0">
                <a:solidFill>
                  <a:schemeClr val="tx1"/>
                </a:solidFill>
              </a:rPr>
              <a:t>threshold</a:t>
            </a:r>
            <a:r>
              <a:rPr lang="en-US" altLang="zh-CN" dirty="0">
                <a:solidFill>
                  <a:schemeClr val="tx1"/>
                </a:solidFill>
              </a:rPr>
              <a:t>. From a 6.8-percent </a:t>
            </a:r>
            <a:r>
              <a:rPr lang="en-US" altLang="zh-CN" b="1" dirty="0">
                <a:solidFill>
                  <a:schemeClr val="tx1"/>
                </a:solidFill>
              </a:rPr>
              <a:t>contraction</a:t>
            </a:r>
            <a:r>
              <a:rPr lang="en-US" altLang="zh-CN" dirty="0">
                <a:solidFill>
                  <a:schemeClr val="tx1"/>
                </a:solidFill>
              </a:rPr>
              <a:t> in Q1, 3.2-percent </a:t>
            </a:r>
            <a:r>
              <a:rPr lang="en-US" altLang="zh-CN" b="1" dirty="0">
                <a:solidFill>
                  <a:schemeClr val="tx1"/>
                </a:solidFill>
              </a:rPr>
              <a:t>expansion</a:t>
            </a:r>
            <a:r>
              <a:rPr lang="en-US" altLang="zh-CN" dirty="0">
                <a:solidFill>
                  <a:schemeClr val="tx1"/>
                </a:solidFill>
              </a:rPr>
              <a:t> in Q2, 4.9-percent </a:t>
            </a:r>
            <a:r>
              <a:rPr lang="en-US" altLang="zh-CN" b="1" dirty="0">
                <a:solidFill>
                  <a:schemeClr val="tx1"/>
                </a:solidFill>
              </a:rPr>
              <a:t>recovery</a:t>
            </a:r>
            <a:r>
              <a:rPr lang="en-US" altLang="zh-CN" dirty="0">
                <a:solidFill>
                  <a:schemeClr val="tx1"/>
                </a:solidFill>
              </a:rPr>
              <a:t> in Q3 to a 6.5-percent </a:t>
            </a:r>
            <a:r>
              <a:rPr lang="en-US" altLang="zh-CN" b="1" dirty="0">
                <a:solidFill>
                  <a:schemeClr val="tx1"/>
                </a:solidFill>
              </a:rPr>
              <a:t>rebound</a:t>
            </a:r>
            <a:r>
              <a:rPr lang="en-US" altLang="zh-CN" dirty="0">
                <a:solidFill>
                  <a:schemeClr val="tx1"/>
                </a:solidFill>
              </a:rPr>
              <a:t> in Q4, the </a:t>
            </a:r>
            <a:r>
              <a:rPr lang="en-US" altLang="zh-CN" i="1" dirty="0">
                <a:solidFill>
                  <a:schemeClr val="tx1"/>
                </a:solidFill>
              </a:rPr>
              <a:t>V-shaped trajectory</a:t>
            </a:r>
            <a:r>
              <a:rPr lang="en-US" altLang="zh-CN" dirty="0">
                <a:solidFill>
                  <a:schemeClr val="tx1"/>
                </a:solidFill>
              </a:rPr>
              <a:t> made China </a:t>
            </a:r>
            <a:r>
              <a:rPr lang="en-US" altLang="zh-CN" b="1" dirty="0">
                <a:solidFill>
                  <a:schemeClr val="tx1"/>
                </a:solidFill>
              </a:rPr>
              <a:t>the only major economy to log positive growth</a:t>
            </a:r>
            <a:r>
              <a:rPr lang="en-US" altLang="zh-CN" dirty="0">
                <a:solidFill>
                  <a:schemeClr val="tx1"/>
                </a:solidFill>
              </a:rPr>
              <a:t>.                                                                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                                                                  </a:t>
            </a:r>
            <a:r>
              <a:rPr lang="en-US" altLang="zh-CN" sz="2400" dirty="0">
                <a:solidFill>
                  <a:schemeClr val="tx1"/>
                </a:solidFill>
              </a:rPr>
              <a:t>— China.org.cn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7254CEB-6C3F-4D4C-A3AC-E5C48043464A}"/>
              </a:ext>
            </a:extLst>
          </p:cNvPr>
          <p:cNvSpPr txBox="1">
            <a:spLocks/>
          </p:cNvSpPr>
          <p:nvPr/>
        </p:nvSpPr>
        <p:spPr>
          <a:xfrm>
            <a:off x="1" y="141481"/>
            <a:ext cx="4113884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GDP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3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7513" y="1044700"/>
            <a:ext cx="8650227" cy="4011325"/>
          </a:xfrm>
        </p:spPr>
        <p:txBody>
          <a:bodyPr>
            <a:normAutofit/>
          </a:bodyPr>
          <a:lstStyle/>
          <a:p>
            <a:pPr marL="216000" lvl="0" indent="-216000"/>
            <a:r>
              <a:rPr lang="en-US" altLang="zh-CN" dirty="0">
                <a:solidFill>
                  <a:schemeClr val="tx1"/>
                </a:solidFill>
              </a:rPr>
              <a:t>The country's GDP </a:t>
            </a:r>
            <a:r>
              <a:rPr lang="en-US" altLang="zh-CN" b="1" dirty="0">
                <a:solidFill>
                  <a:schemeClr val="tx1"/>
                </a:solidFill>
              </a:rPr>
              <a:t>dipped</a:t>
            </a:r>
            <a:r>
              <a:rPr lang="en-US" altLang="zh-CN" dirty="0">
                <a:solidFill>
                  <a:schemeClr val="tx1"/>
                </a:solidFill>
              </a:rPr>
              <a:t> 6.8 percent year-on-year in the first quarter </a:t>
            </a:r>
            <a:r>
              <a:rPr lang="en-US" altLang="zh-CN" b="1" dirty="0">
                <a:solidFill>
                  <a:schemeClr val="tx1"/>
                </a:solidFill>
              </a:rPr>
              <a:t>before making a comeback</a:t>
            </a:r>
            <a:r>
              <a:rPr lang="en-US" altLang="zh-CN" dirty="0">
                <a:solidFill>
                  <a:schemeClr val="tx1"/>
                </a:solidFill>
              </a:rPr>
              <a:t> of 3.2 percent in the April-June period. It then </a:t>
            </a:r>
            <a:r>
              <a:rPr lang="en-US" altLang="zh-CN" b="1" dirty="0">
                <a:solidFill>
                  <a:schemeClr val="tx1"/>
                </a:solidFill>
              </a:rPr>
              <a:t>secured a gain </a:t>
            </a:r>
            <a:r>
              <a:rPr lang="en-US" altLang="zh-CN" dirty="0">
                <a:solidFill>
                  <a:schemeClr val="tx1"/>
                </a:solidFill>
              </a:rPr>
              <a:t>of 4.9 percent in the third quarter and </a:t>
            </a:r>
            <a:r>
              <a:rPr lang="en-US" altLang="zh-CN" b="1" dirty="0">
                <a:solidFill>
                  <a:schemeClr val="tx1"/>
                </a:solidFill>
              </a:rPr>
              <a:t>extended the rising streak</a:t>
            </a:r>
            <a:r>
              <a:rPr lang="en-US" altLang="zh-CN" dirty="0">
                <a:solidFill>
                  <a:schemeClr val="tx1"/>
                </a:solidFill>
              </a:rPr>
              <a:t> from October through December by </a:t>
            </a:r>
            <a:r>
              <a:rPr lang="en-US" altLang="zh-CN" b="1" dirty="0">
                <a:solidFill>
                  <a:schemeClr val="tx1"/>
                </a:solidFill>
              </a:rPr>
              <a:t>moving upward</a:t>
            </a:r>
            <a:r>
              <a:rPr lang="en-US" altLang="zh-CN" dirty="0">
                <a:solidFill>
                  <a:schemeClr val="tx1"/>
                </a:solidFill>
              </a:rPr>
              <a:t> 6.5 percent. 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                                                                 — China.org.cn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69A0E5B-0D09-432F-92D3-3B0DB4B0A076}"/>
              </a:ext>
            </a:extLst>
          </p:cNvPr>
          <p:cNvSpPr txBox="1">
            <a:spLocks/>
          </p:cNvSpPr>
          <p:nvPr/>
        </p:nvSpPr>
        <p:spPr>
          <a:xfrm>
            <a:off x="1" y="141481"/>
            <a:ext cx="4113884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GDP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021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511" y="1044699"/>
            <a:ext cx="8829934" cy="4083341"/>
          </a:xfrm>
        </p:spPr>
        <p:txBody>
          <a:bodyPr>
            <a:normAutofit/>
          </a:bodyPr>
          <a:lstStyle/>
          <a:p>
            <a:pPr marL="216000" indent="-216000">
              <a:spcBef>
                <a:spcPts val="0"/>
              </a:spcBef>
            </a:pPr>
            <a:r>
              <a:rPr lang="en-US" altLang="zh-CN" dirty="0">
                <a:solidFill>
                  <a:schemeClr val="tx1"/>
                </a:solidFill>
              </a:rPr>
              <a:t>China’s GDP </a:t>
            </a:r>
            <a:r>
              <a:rPr lang="en-US" altLang="zh-CN" b="1" dirty="0">
                <a:solidFill>
                  <a:schemeClr val="tx1"/>
                </a:solidFill>
              </a:rPr>
              <a:t>rose by </a:t>
            </a:r>
            <a:r>
              <a:rPr lang="en-US" altLang="zh-CN" dirty="0">
                <a:solidFill>
                  <a:schemeClr val="tx1"/>
                </a:solidFill>
              </a:rPr>
              <a:t>3.2% and 4.9% in the second and third quarters of the year, respectively, </a:t>
            </a:r>
            <a:r>
              <a:rPr lang="en-US" altLang="zh-CN" b="1" dirty="0">
                <a:solidFill>
                  <a:schemeClr val="tx1"/>
                </a:solidFill>
              </a:rPr>
              <a:t>after suffering a historic 6.8% contraction</a:t>
            </a:r>
            <a:r>
              <a:rPr lang="en-US" altLang="zh-CN" dirty="0">
                <a:solidFill>
                  <a:schemeClr val="tx1"/>
                </a:solidFill>
              </a:rPr>
              <a:t> in the first. </a:t>
            </a:r>
            <a:r>
              <a:rPr lang="en-US" altLang="zh-CN" b="1" dirty="0">
                <a:solidFill>
                  <a:schemeClr val="tx1"/>
                </a:solidFill>
              </a:rPr>
              <a:t>By logging 6.5% growth</a:t>
            </a:r>
            <a:r>
              <a:rPr lang="en-US" altLang="zh-CN" dirty="0">
                <a:solidFill>
                  <a:schemeClr val="tx1"/>
                </a:solidFill>
              </a:rPr>
              <a:t> in the final quarter, China’s economy finished the year </a:t>
            </a:r>
            <a:r>
              <a:rPr lang="en-US" altLang="zh-CN" b="1" dirty="0">
                <a:solidFill>
                  <a:schemeClr val="tx1"/>
                </a:solidFill>
              </a:rPr>
              <a:t>on a high note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</a:p>
          <a:p>
            <a:pPr marL="252000" indent="-457200"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</a:rPr>
              <a:t>   The results </a:t>
            </a:r>
            <a:r>
              <a:rPr lang="en-US" altLang="zh-CN" b="1" dirty="0">
                <a:solidFill>
                  <a:schemeClr val="tx1"/>
                </a:solidFill>
              </a:rPr>
              <a:t>topped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expectations</a:t>
            </a:r>
            <a:r>
              <a:rPr lang="en-US" altLang="zh-CN" dirty="0">
                <a:solidFill>
                  <a:schemeClr val="tx1"/>
                </a:solidFill>
              </a:rPr>
              <a:t>. China’s growth makes it an </a:t>
            </a:r>
            <a:r>
              <a:rPr lang="en-US" altLang="zh-CN" b="1" dirty="0">
                <a:solidFill>
                  <a:schemeClr val="tx1"/>
                </a:solidFill>
              </a:rPr>
              <a:t>outlier</a:t>
            </a:r>
            <a:r>
              <a:rPr lang="en-US" altLang="zh-CN" dirty="0">
                <a:solidFill>
                  <a:schemeClr val="tx1"/>
                </a:solidFill>
              </a:rPr>
              <a:t> among large economies. 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矩形 4">
            <a:hlinkClick r:id="" action="ppaction://noaction"/>
            <a:extLst>
              <a:ext uri="{FF2B5EF4-FFF2-40B4-BE49-F238E27FC236}">
                <a16:creationId xmlns:a16="http://schemas.microsoft.com/office/drawing/2014/main" id="{F6136BC4-D0C0-478C-BC5A-6CAE5B2B298B}"/>
              </a:ext>
            </a:extLst>
          </p:cNvPr>
          <p:cNvSpPr/>
          <p:nvPr/>
        </p:nvSpPr>
        <p:spPr>
          <a:xfrm>
            <a:off x="6251755" y="4251505"/>
            <a:ext cx="2592288" cy="4188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— Wall Street Journal</a:t>
            </a:r>
            <a:endParaRPr kumimoji="0" lang="zh-CN" alt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D7BE603-52E3-46F7-8554-E124B6EB9661}"/>
              </a:ext>
            </a:extLst>
          </p:cNvPr>
          <p:cNvSpPr txBox="1">
            <a:spLocks/>
          </p:cNvSpPr>
          <p:nvPr/>
        </p:nvSpPr>
        <p:spPr>
          <a:xfrm>
            <a:off x="1" y="141481"/>
            <a:ext cx="4113884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GDP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55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5526" y="891995"/>
            <a:ext cx="8532948" cy="4110024"/>
          </a:xfrm>
        </p:spPr>
        <p:txBody>
          <a:bodyPr>
            <a:noAutofit/>
          </a:bodyPr>
          <a:lstStyle/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primary industry/sector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secondary industry/sector (</a:t>
            </a:r>
            <a:r>
              <a:rPr lang="en-US" altLang="zh-CN" i="1" dirty="0">
                <a:solidFill>
                  <a:schemeClr val="tx1"/>
                </a:solidFill>
              </a:rPr>
              <a:t>processing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tertiary industry/sector or service sector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per capita disposable income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value-added industrial output  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retail sales of consumer goods 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consumer price index (CPI)</a:t>
            </a:r>
          </a:p>
          <a:p>
            <a:pPr marL="288000" indent="-288000"/>
            <a:r>
              <a:rPr lang="en-US" altLang="zh-CN" dirty="0"/>
              <a:t>producer price index (PPI)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DA206AB-B227-4E58-B8E7-A579305B9BE3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21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E634179D-F776-4EB4-80B7-A301557F0D39}"/>
              </a:ext>
            </a:extLst>
          </p:cNvPr>
          <p:cNvGraphicFramePr>
            <a:graphicFrameLocks/>
          </p:cNvGraphicFramePr>
          <p:nvPr/>
        </p:nvGraphicFramePr>
        <p:xfrm>
          <a:off x="62197" y="1026338"/>
          <a:ext cx="8989591" cy="380873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509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9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497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+mn-lt"/>
                        </a:rPr>
                        <a:t>Membership of economic organizations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altLang="zh-CN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WTO,  WB,  IMF,  ICC,  ISO,  </a:t>
                      </a:r>
                      <a:r>
                        <a:rPr kumimoji="0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WEF,  G20, 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RCEP,  APEC,  SCO,  ADB,  AIIB,  BRICS,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etc. 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endParaRPr lang="en-US" altLang="zh-CN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lnSpc>
                          <a:spcPts val="3900"/>
                        </a:lnSpc>
                        <a:buFont typeface="Arial" panose="020B0604020202020204" pitchFamily="34" charset="0"/>
                        <a:buNone/>
                      </a:pPr>
                      <a:endParaRPr lang="en-US" altLang="zh-CN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indent="0" algn="l">
                        <a:lnSpc>
                          <a:spcPts val="3900"/>
                        </a:lnSpc>
                        <a:buFont typeface="Arial" panose="020B0604020202020204" pitchFamily="34" charset="0"/>
                        <a:buNone/>
                      </a:pPr>
                      <a:endParaRPr lang="en-US" altLang="zh-CN" sz="3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EFAA468B-A8F2-4E4B-9F35-7776063B63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375" y="636778"/>
            <a:ext cx="1044700" cy="10447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278461E-579C-4312-A4FE-4F56D0AEA9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297" y="3294721"/>
            <a:ext cx="1513937" cy="8515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0E113C1-997B-471F-9F04-E3EBD6C30D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555" y="1937937"/>
            <a:ext cx="2043006" cy="91935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472941E-D148-4111-A5F6-93C3230DBF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81" y="3254213"/>
            <a:ext cx="932655" cy="91813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2B0C598-A099-4AEE-9D49-0FE62E67AC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151" y="2899425"/>
            <a:ext cx="1523161" cy="152316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B014BB71-D53A-4C8C-8C03-1C5F0F9D668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0" t="20692" r="9920" b="26352"/>
          <a:stretch/>
        </p:blipFill>
        <p:spPr>
          <a:xfrm>
            <a:off x="6303058" y="4222098"/>
            <a:ext cx="2748730" cy="634038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464E2A8-E616-48F7-B288-0882EE457CC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50" y="749797"/>
            <a:ext cx="1126552" cy="91814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B672E1E-A91C-4097-ABB5-780417BF1C3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4" t="11404" r="8435" b="40062"/>
          <a:stretch/>
        </p:blipFill>
        <p:spPr>
          <a:xfrm>
            <a:off x="7324561" y="2090585"/>
            <a:ext cx="1169964" cy="7083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034E59-E941-4536-ADC2-7B3FF354D78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739" y="3279081"/>
            <a:ext cx="1367025" cy="441435"/>
          </a:xfrm>
          <a:prstGeom prst="rect">
            <a:avLst/>
          </a:prstGeom>
        </p:spPr>
      </p:pic>
      <p:pic>
        <p:nvPicPr>
          <p:cNvPr id="14" name="图片 13">
            <a:hlinkClick r:id="" action="ppaction://noaction"/>
            <a:extLst>
              <a:ext uri="{FF2B5EF4-FFF2-40B4-BE49-F238E27FC236}">
                <a16:creationId xmlns:a16="http://schemas.microsoft.com/office/drawing/2014/main" id="{B8EA62F4-8D1A-4A3F-90F4-0E7A599170A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927" y="3275444"/>
            <a:ext cx="1524156" cy="1644882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07F103D2-A6B9-4045-A7FC-040337F1D13E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97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5526" y="1143139"/>
            <a:ext cx="8532948" cy="3858620"/>
          </a:xfrm>
        </p:spPr>
        <p:txBody>
          <a:bodyPr>
            <a:noAutofit/>
          </a:bodyPr>
          <a:lstStyle/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China has </a:t>
            </a:r>
            <a:r>
              <a:rPr lang="en-US" altLang="zh-CN" i="1" dirty="0">
                <a:solidFill>
                  <a:schemeClr val="tx1"/>
                </a:solidFill>
              </a:rPr>
              <a:t>contributed</a:t>
            </a:r>
            <a:r>
              <a:rPr lang="en-US" altLang="zh-CN" dirty="0">
                <a:solidFill>
                  <a:schemeClr val="tx1"/>
                </a:solidFill>
              </a:rPr>
              <a:t> about 30 percent to the global economic growth (a third of global economic growth) over the years and is the largest </a:t>
            </a:r>
            <a:r>
              <a:rPr lang="en-US" altLang="zh-CN" b="1" dirty="0">
                <a:solidFill>
                  <a:schemeClr val="tx1"/>
                </a:solidFill>
              </a:rPr>
              <a:t>engine</a:t>
            </a:r>
            <a:r>
              <a:rPr lang="en-US" altLang="zh-CN" dirty="0">
                <a:solidFill>
                  <a:schemeClr val="tx1"/>
                </a:solidFill>
              </a:rPr>
              <a:t> of world economy.</a:t>
            </a:r>
          </a:p>
          <a:p>
            <a:pPr marL="288000" indent="-288000"/>
            <a:r>
              <a:rPr lang="en-US" altLang="zh-CN" dirty="0">
                <a:solidFill>
                  <a:schemeClr val="tx1"/>
                </a:solidFill>
              </a:rPr>
              <a:t>China’s </a:t>
            </a:r>
            <a:r>
              <a:rPr lang="en-US" altLang="zh-CN" i="1" dirty="0">
                <a:solidFill>
                  <a:schemeClr val="tx1"/>
                </a:solidFill>
              </a:rPr>
              <a:t>contribution</a:t>
            </a:r>
            <a:r>
              <a:rPr lang="en-US" altLang="zh-CN" dirty="0">
                <a:solidFill>
                  <a:schemeClr val="tx1"/>
                </a:solidFill>
              </a:rPr>
              <a:t> to world economic growth has stayed at around 30 percent over the years, making it the largest </a:t>
            </a:r>
            <a:r>
              <a:rPr lang="en-US" altLang="zh-CN" b="1" dirty="0">
                <a:solidFill>
                  <a:schemeClr val="tx1"/>
                </a:solidFill>
              </a:rPr>
              <a:t>driver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b="1" dirty="0">
                <a:solidFill>
                  <a:schemeClr val="tx1"/>
                </a:solidFill>
              </a:rPr>
              <a:t>driving force </a:t>
            </a:r>
            <a:r>
              <a:rPr lang="en-US" altLang="zh-CN" dirty="0">
                <a:solidFill>
                  <a:schemeClr val="tx1"/>
                </a:solidFill>
              </a:rPr>
              <a:t>of world economic growth.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DA206AB-B227-4E58-B8E7-A579305B9BE3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00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DA206AB-B227-4E58-B8E7-A579305B9BE3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3780E8-73FA-49D9-B241-CFABE86C88D0}"/>
              </a:ext>
            </a:extLst>
          </p:cNvPr>
          <p:cNvSpPr/>
          <p:nvPr/>
        </p:nvSpPr>
        <p:spPr>
          <a:xfrm>
            <a:off x="296260" y="891995"/>
            <a:ext cx="8763901" cy="40775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manufacturing superpower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(the largest manufacturing economy/base/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hub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)</a:t>
            </a:r>
          </a:p>
          <a:p>
            <a:pPr marL="216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the world’s largest and most complete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manufacturing system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. </a:t>
            </a:r>
          </a:p>
          <a:p>
            <a:pPr marL="216000" lvl="0" indent="-360000">
              <a:spcBef>
                <a:spcPts val="600"/>
              </a:spcBef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 </a:t>
            </a:r>
            <a:r>
              <a:rPr lang="en-US" altLang="zh-CN" sz="2600" dirty="0">
                <a:solidFill>
                  <a:prstClr val="black"/>
                </a:solidFill>
                <a:sym typeface="Wingdings 2" panose="05020102010507070707" pitchFamily="18" charset="2"/>
              </a:rPr>
              <a:t>a country with a </a:t>
            </a:r>
            <a:r>
              <a:rPr lang="en-US" altLang="zh-CN" sz="2600" b="1" dirty="0">
                <a:solidFill>
                  <a:prstClr val="black"/>
                </a:solidFill>
                <a:sym typeface="Wingdings 2" panose="05020102010507070707" pitchFamily="18" charset="2"/>
              </a:rPr>
              <a:t>comprehensive industrial chain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</a:endParaRPr>
          </a:p>
          <a:p>
            <a:pPr marL="216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(In terms of the industrial base, China is the only country with industries across all categories in the U.N. industrial classification. )</a:t>
            </a:r>
          </a:p>
          <a:p>
            <a:pPr marL="216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中国是唯一拥有联合国产业分类中全部工业门类的国家。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5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DA206AB-B227-4E58-B8E7-A579305B9BE3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tx1"/>
                </a:solidFill>
                <a:latin typeface="Candara" panose="020E0502030303020204" pitchFamily="34" charset="0"/>
              </a:rPr>
              <a:t>China’s economy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A3C529-0834-4D45-A9C9-F36FE35E34F6}"/>
              </a:ext>
            </a:extLst>
          </p:cNvPr>
          <p:cNvSpPr/>
          <p:nvPr/>
        </p:nvSpPr>
        <p:spPr>
          <a:xfrm>
            <a:off x="296261" y="1044700"/>
            <a:ext cx="8710858" cy="39248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manufacturing superpower</a:t>
            </a:r>
          </a:p>
          <a:p>
            <a:pPr marL="216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China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makes up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nearly one third of the global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manufacturing output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.</a:t>
            </a:r>
          </a:p>
          <a:p>
            <a:pPr marL="216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The added value of China’s manufacturing sector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accounts for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around 30 percent of the global total,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ranking first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globally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/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leading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the word / maintaining the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global top position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for 16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consecutive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years.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84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555" y="891995"/>
            <a:ext cx="9000445" cy="3967803"/>
          </a:xfrm>
        </p:spPr>
        <p:txBody>
          <a:bodyPr>
            <a:noAutofit/>
          </a:bodyPr>
          <a:lstStyle/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构建以先进制造业为骨干的现代化产业体系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324000" indent="-457200">
              <a:spcBef>
                <a:spcPts val="0"/>
              </a:spcBef>
              <a:buNone/>
            </a:pP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-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to build a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modernized industrial system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/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modernize the industrial system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with advanced manufacturing as its backbone</a:t>
            </a:r>
          </a:p>
          <a:p>
            <a:pPr marL="288000" lvl="0" indent="-288000">
              <a:spcBef>
                <a:spcPts val="600"/>
              </a:spcBef>
            </a:pP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cs typeface="Calibri" panose="020F0502020204030204" pitchFamily="34" charset="0"/>
              </a:rPr>
              <a:t>推进制造业数字化转型和“人工智能</a:t>
            </a: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cs typeface="Calibri" panose="020F0502020204030204" pitchFamily="34" charset="0"/>
              </a:rPr>
              <a:t>+”</a:t>
            </a:r>
            <a:r>
              <a:rPr lang="zh-CN" altLang="en-US" sz="2400" dirty="0">
                <a:solidFill>
                  <a:prstClr val="black"/>
                </a:solidFill>
                <a:latin typeface="宋体" panose="02010600030101010101" pitchFamily="2" charset="-122"/>
                <a:cs typeface="Calibri" panose="020F0502020204030204" pitchFamily="34" charset="0"/>
              </a:rPr>
              <a:t>行动</a:t>
            </a:r>
            <a:endParaRPr lang="en-US" altLang="zh-CN" sz="2400" dirty="0">
              <a:solidFill>
                <a:prstClr val="black"/>
              </a:solidFill>
              <a:latin typeface="宋体" panose="02010600030101010101" pitchFamily="2" charset="-122"/>
              <a:cs typeface="Calibri" panose="020F0502020204030204" pitchFamily="34" charset="0"/>
            </a:endParaRPr>
          </a:p>
          <a:p>
            <a:pPr marL="288000" lvl="0" indent="-457200">
              <a:spcBef>
                <a:spcPts val="0"/>
              </a:spcBef>
              <a:buNone/>
            </a:pPr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cs typeface="Calibri" panose="020F0502020204030204" pitchFamily="34" charset="0"/>
              </a:rPr>
              <a:t>- to move ahead with </a:t>
            </a:r>
            <a:r>
              <a:rPr lang="en-US" altLang="zh-CN" sz="2400" b="1" dirty="0">
                <a:solidFill>
                  <a:prstClr val="black"/>
                </a:solidFill>
                <a:cs typeface="Calibri" panose="020F0502020204030204" pitchFamily="34" charset="0"/>
              </a:rPr>
              <a:t>digital transformation</a:t>
            </a:r>
            <a:r>
              <a:rPr lang="en-US" altLang="zh-CN" sz="2400" dirty="0">
                <a:solidFill>
                  <a:prstClr val="black"/>
                </a:solidFill>
                <a:cs typeface="Calibri" panose="020F0502020204030204" pitchFamily="34" charset="0"/>
              </a:rPr>
              <a:t> of manufacturing and  </a:t>
            </a:r>
            <a:r>
              <a:rPr lang="en-US" altLang="zh-CN" sz="2400" b="1" dirty="0">
                <a:solidFill>
                  <a:prstClr val="black"/>
                </a:solidFill>
                <a:cs typeface="Calibri" panose="020F0502020204030204" pitchFamily="34" charset="0"/>
              </a:rPr>
              <a:t>the AI Plus Initiative</a:t>
            </a:r>
          </a:p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优化提升传统产业</a:t>
            </a:r>
            <a:r>
              <a:rPr lang="en-US" altLang="zh-CN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重点产业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 - to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upgrade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traditional industries / key industries</a:t>
            </a:r>
          </a:p>
          <a:p>
            <a:pPr marL="288000" indent="-288000">
              <a:spcBef>
                <a:spcPts val="6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cs typeface="Calibri" panose="020F0502020204030204" pitchFamily="34" charset="0"/>
              </a:rPr>
              <a:t>培育壮大新兴产业和未来产业</a:t>
            </a:r>
            <a:endParaRPr lang="en-US" altLang="zh-CN" sz="2400" dirty="0">
              <a:solidFill>
                <a:schemeClr val="tx1"/>
              </a:solidFill>
              <a:latin typeface="+mn-ea"/>
              <a:cs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 - to nurture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emerging industries</a:t>
            </a:r>
            <a:r>
              <a:rPr lang="en-US" altLang="zh-CN" sz="2400" dirty="0">
                <a:solidFill>
                  <a:schemeClr val="tx1"/>
                </a:solidFill>
                <a:cs typeface="Calibri" panose="020F0502020204030204" pitchFamily="34" charset="0"/>
              </a:rPr>
              <a:t> and </a:t>
            </a:r>
            <a:r>
              <a:rPr lang="en-US" altLang="zh-CN" sz="2400" b="1" dirty="0">
                <a:solidFill>
                  <a:schemeClr val="tx1"/>
                </a:solidFill>
                <a:cs typeface="Calibri" panose="020F0502020204030204" pitchFamily="34" charset="0"/>
              </a:rPr>
              <a:t>industries of the future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2246" y="128470"/>
            <a:ext cx="4275740" cy="544103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15</a:t>
            </a:r>
            <a:r>
              <a:rPr lang="en-US" altLang="zh-CN" b="1" baseline="30000" dirty="0">
                <a:solidFill>
                  <a:schemeClr val="tx1"/>
                </a:solidFill>
                <a:latin typeface="Candara" panose="020E0502030303020204" pitchFamily="34" charset="0"/>
              </a:rPr>
              <a:t>th</a:t>
            </a:r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 Five-Year Plan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909C9E-BC19-4546-BB10-A0595E72EC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8108">
            <a:off x="1469502" y="-126694"/>
            <a:ext cx="1376291" cy="10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3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0F9CFB4-4CAD-4264-AE93-94887FF8C672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9A6DEF-C58E-43F1-96F7-C7776F70F40E}"/>
              </a:ext>
            </a:extLst>
          </p:cNvPr>
          <p:cNvSpPr/>
          <p:nvPr/>
        </p:nvSpPr>
        <p:spPr>
          <a:xfrm>
            <a:off x="296261" y="891995"/>
            <a:ext cx="8704184" cy="4110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of goods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exporter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&amp;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importer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of goods)</a:t>
            </a:r>
          </a:p>
          <a:p>
            <a:pPr marL="324000" marR="0" lvl="0" indent="-32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 (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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China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ranks second among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the world’s largest importers.)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-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total imports and exports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total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trade volume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trade with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BRI partner countries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Belt and Road partner countries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China trades with more than 240 countries and regions, with ASEAN remaining China’s largest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trading partner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04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09F156-8801-4A60-A6A9-B8FC60EE7859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31CD55-62DB-4071-AF98-3C6C518AD0ED}"/>
              </a:ext>
            </a:extLst>
          </p:cNvPr>
          <p:cNvSpPr/>
          <p:nvPr/>
        </p:nvSpPr>
        <p:spPr>
          <a:xfrm>
            <a:off x="296260" y="1044700"/>
            <a:ext cx="8770535" cy="366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countries that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receive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attract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the most FDI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recipients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receivers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of FDI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leading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countries for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FDI inflows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foreign direct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investors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 investing countries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providers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of FDI</a:t>
            </a: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one of the 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leading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countries for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FDI outflows</a:t>
            </a:r>
          </a:p>
          <a:p>
            <a:pPr marL="288000" lvl="0" indent="-288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prstClr val="black"/>
                </a:solidFill>
              </a:rPr>
              <a:t>the largest </a:t>
            </a:r>
            <a:r>
              <a:rPr lang="en-US" altLang="zh-CN" sz="2800" b="1" dirty="0">
                <a:solidFill>
                  <a:prstClr val="black"/>
                </a:solidFill>
              </a:rPr>
              <a:t>holder</a:t>
            </a:r>
            <a:r>
              <a:rPr lang="en-US" altLang="zh-CN" sz="2800" dirty="0">
                <a:solidFill>
                  <a:prstClr val="black"/>
                </a:solidFill>
              </a:rPr>
              <a:t> of </a:t>
            </a:r>
            <a:r>
              <a:rPr lang="en-US" altLang="zh-CN" sz="2800" b="1" dirty="0">
                <a:solidFill>
                  <a:prstClr val="black"/>
                </a:solidFill>
              </a:rPr>
              <a:t>foreign exchange reserves</a:t>
            </a:r>
          </a:p>
        </p:txBody>
      </p:sp>
    </p:spTree>
    <p:extLst>
      <p:ext uri="{BB962C8B-B14F-4D97-AF65-F5344CB8AC3E}">
        <p14:creationId xmlns:p14="http://schemas.microsoft.com/office/powerpoint/2010/main" val="383011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6260" y="891995"/>
            <a:ext cx="8704185" cy="3967803"/>
          </a:xfrm>
        </p:spPr>
        <p:txBody>
          <a:bodyPr>
            <a:noAutofit/>
          </a:bodyPr>
          <a:lstStyle/>
          <a:p>
            <a:pPr marL="288000" lvl="0" indent="-288000" defTabSz="1219170">
              <a:spcBef>
                <a:spcPts val="0"/>
              </a:spcBef>
              <a:defRPr/>
            </a:pPr>
            <a:r>
              <a:rPr lang="en-US" altLang="zh-CN" sz="2600" b="1" dirty="0">
                <a:solidFill>
                  <a:prstClr val="black"/>
                </a:solidFill>
              </a:rPr>
              <a:t>digital economy</a:t>
            </a:r>
            <a:r>
              <a:rPr lang="en-US" altLang="zh-CN" sz="2600" dirty="0">
                <a:solidFill>
                  <a:prstClr val="black"/>
                </a:solidFill>
              </a:rPr>
              <a:t> pioneer</a:t>
            </a:r>
          </a:p>
          <a:p>
            <a:pPr marL="216000" lvl="0" indent="-360000" defTabSz="1219170"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</a:rPr>
              <a:t>- The value added of </a:t>
            </a:r>
            <a:r>
              <a:rPr lang="en-US" altLang="zh-CN" sz="2600" b="1" dirty="0">
                <a:solidFill>
                  <a:prstClr val="black"/>
                </a:solidFill>
              </a:rPr>
              <a:t>core digital economy industries</a:t>
            </a:r>
            <a:r>
              <a:rPr lang="en-US" altLang="zh-CN" sz="2600" dirty="0">
                <a:solidFill>
                  <a:prstClr val="black"/>
                </a:solidFill>
              </a:rPr>
              <a:t> exceeded 10.5 percent of GDP.</a:t>
            </a:r>
          </a:p>
          <a:p>
            <a:pPr marL="216000" lvl="0" indent="-360000" defTabSz="1219170"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</a:rPr>
              <a:t>- </a:t>
            </a:r>
            <a:r>
              <a:rPr lang="en-US" altLang="zh-CN" sz="2600" b="1" dirty="0">
                <a:solidFill>
                  <a:prstClr val="black"/>
                </a:solidFill>
              </a:rPr>
              <a:t>digital consumption</a:t>
            </a:r>
            <a:r>
              <a:rPr lang="en-US" altLang="zh-CN" sz="2600" dirty="0">
                <a:solidFill>
                  <a:prstClr val="black"/>
                </a:solidFill>
              </a:rPr>
              <a:t>; consumer market</a:t>
            </a:r>
          </a:p>
          <a:p>
            <a:pPr marL="216000" lvl="0" indent="-360000" defTabSz="1219170"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</a:rPr>
              <a:t>- the world’s largest online retail market</a:t>
            </a:r>
          </a:p>
          <a:p>
            <a:pPr marL="216000" lvl="0" indent="-360000" defTabSz="1219170">
              <a:spcBef>
                <a:spcPts val="0"/>
              </a:spcBef>
              <a:buNone/>
              <a:defRPr/>
            </a:pPr>
            <a:r>
              <a:rPr lang="en-US" altLang="zh-CN" sz="2600" dirty="0">
                <a:solidFill>
                  <a:prstClr val="black"/>
                </a:solidFill>
              </a:rPr>
              <a:t>- </a:t>
            </a:r>
            <a:r>
              <a:rPr lang="en-US" altLang="zh-CN" sz="2600" b="1" dirty="0">
                <a:solidFill>
                  <a:prstClr val="black"/>
                </a:solidFill>
              </a:rPr>
              <a:t>Fintech</a:t>
            </a:r>
            <a:endParaRPr lang="en-US" altLang="zh-CN" sz="2600" dirty="0">
              <a:solidFill>
                <a:prstClr val="black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92246" y="128470"/>
            <a:ext cx="4275740" cy="544103"/>
          </a:xfrm>
        </p:spPr>
        <p:txBody>
          <a:bodyPr>
            <a:noAutofit/>
          </a:bodyPr>
          <a:lstStyle/>
          <a:p>
            <a:pPr algn="l"/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15</a:t>
            </a:r>
            <a:r>
              <a:rPr lang="en-US" altLang="zh-CN" b="1" baseline="30000" dirty="0">
                <a:solidFill>
                  <a:schemeClr val="tx1"/>
                </a:solidFill>
                <a:latin typeface="Candara" panose="020E0502030303020204" pitchFamily="34" charset="0"/>
              </a:rPr>
              <a:t>th</a:t>
            </a:r>
            <a:r>
              <a:rPr lang="en-US" altLang="zh-CN" b="1" dirty="0">
                <a:solidFill>
                  <a:schemeClr val="tx1"/>
                </a:solidFill>
                <a:latin typeface="Candara" panose="020E0502030303020204" pitchFamily="34" charset="0"/>
              </a:rPr>
              <a:t> Five-Year Plan</a:t>
            </a:r>
            <a:endParaRPr lang="ru-RU" b="1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3909C9E-BC19-4546-BB10-A0595E72EC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8108">
            <a:off x="1469502" y="-126694"/>
            <a:ext cx="1376291" cy="101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1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8EE79B8-640B-4B61-AA5D-D1812DF8A8DB}"/>
              </a:ext>
            </a:extLst>
          </p:cNvPr>
          <p:cNvSpPr/>
          <p:nvPr/>
        </p:nvSpPr>
        <p:spPr>
          <a:xfrm>
            <a:off x="296260" y="1044700"/>
            <a:ext cx="8856890" cy="3664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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External shocks and challenges: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international economic and trade environment are undergoing drastic changes;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Unilateralism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and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protectionism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are abruptly escalating;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Market expectations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 2" panose="05020102010507070707" pitchFamily="18" charset="2"/>
              </a:rPr>
              <a:t> are hit by frequent volatility;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Global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economic momentum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remains sluggish;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Multilateralism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and free trade are under severe threat;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Geopolitical risks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are rising.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8BB60AB-7DF7-455C-BEF5-491CC967A275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487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8EE79B8-640B-4B61-AA5D-D1812DF8A8DB}"/>
              </a:ext>
            </a:extLst>
          </p:cNvPr>
          <p:cNvSpPr/>
          <p:nvPr/>
        </p:nvSpPr>
        <p:spPr>
          <a:xfrm>
            <a:off x="296261" y="756445"/>
            <a:ext cx="8770574" cy="43262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 Domestic problems and challenges: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imbalance of development between urban and rural areas and between regions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formidable task of transitioning to new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growth drivers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imbalance between strong supply and weak demand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; lack of adequate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growth momentum 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 consumption and investment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severe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budgetary imbalances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of some local governments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difficulties of some enterprises in operations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rising pressures on employment and income growth</a:t>
            </a:r>
          </a:p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ongoing adjustment of the real estate market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8BB60AB-7DF7-455C-BEF5-491CC967A275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1550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E634179D-F776-4EB4-80B7-A301557F0D39}"/>
              </a:ext>
            </a:extLst>
          </p:cNvPr>
          <p:cNvGraphicFramePr>
            <a:graphicFrameLocks/>
          </p:cNvGraphicFramePr>
          <p:nvPr/>
        </p:nvGraphicFramePr>
        <p:xfrm>
          <a:off x="77204" y="739290"/>
          <a:ext cx="8989591" cy="428244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89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New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Initiatives in the 15</a:t>
                      </a:r>
                      <a:r>
                        <a:rPr kumimoji="0" lang="en-US" altLang="zh-CN" sz="3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FYP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发展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新质生产力</a:t>
                      </a: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是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高质量发展</a:t>
                      </a: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的内在要求。</a:t>
                      </a:r>
                      <a:endParaRPr lang="en-US" altLang="zh-CN" sz="240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8000" marR="0" lvl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lang="en-US" altLang="zh-CN" sz="2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New quality productive forces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are </a:t>
                      </a:r>
                      <a:r>
                        <a:rPr lang="en-US" altLang="zh-CN" sz="2400" u="sng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integral 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US" altLang="zh-CN" sz="2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high-quality development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坚持</a:t>
                      </a: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创新驱动发展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to pursue 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innovation-driven development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做</a:t>
                      </a:r>
                      <a:r>
                        <a:rPr lang="zh-CN" altLang="en-US" sz="24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强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国内大循环</a:t>
                      </a:r>
                      <a:endParaRPr lang="en-US" altLang="zh-CN" sz="24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8000" marR="0" lvl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- strengthening the domestic economy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持续</a:t>
                      </a: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扩⼤内需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、优化供给</a:t>
                      </a:r>
                      <a:endPara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288000" marR="0" lvl="0" indent="-4572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to 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boost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expand domestic demand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improve supply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06530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09F156-8801-4A60-A6A9-B8FC60EE7859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8E0BC6-4C50-4B0B-A51A-B328F052E8AC}"/>
              </a:ext>
            </a:extLst>
          </p:cNvPr>
          <p:cNvSpPr/>
          <p:nvPr/>
        </p:nvSpPr>
        <p:spPr>
          <a:xfrm>
            <a:off x="1976015" y="739290"/>
            <a:ext cx="7177135" cy="4404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发展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新质生产力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高质量发展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的内在要求。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-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New quality productive forces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are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integral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to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high-quality development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.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坚持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创新驱动发展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to pursue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innovation-driven development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做强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国内大循环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- strengthening the domestic economy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持续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扩⼤内需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、优化供给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80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to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boost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expand domestic demand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and improve supply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6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4">
            <a:extLst>
              <a:ext uri="{FF2B5EF4-FFF2-40B4-BE49-F238E27FC236}">
                <a16:creationId xmlns:a16="http://schemas.microsoft.com/office/drawing/2014/main" id="{E634179D-F776-4EB4-80B7-A301557F0D39}"/>
              </a:ext>
            </a:extLst>
          </p:cNvPr>
          <p:cNvGraphicFramePr>
            <a:graphicFrameLocks/>
          </p:cNvGraphicFramePr>
          <p:nvPr/>
        </p:nvGraphicFramePr>
        <p:xfrm>
          <a:off x="77204" y="739290"/>
          <a:ext cx="8989591" cy="428244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898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New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Initiatives in the 15</a:t>
                      </a:r>
                      <a:r>
                        <a:rPr kumimoji="0" lang="en-US" altLang="zh-CN" sz="32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en-US" altLang="zh-CN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FYP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发展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新质生产力</a:t>
                      </a: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是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高质量发展</a:t>
                      </a: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的内在要求。</a:t>
                      </a:r>
                      <a:endParaRPr lang="en-US" altLang="zh-CN" sz="240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8000" marR="0" lvl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lang="en-US" altLang="zh-CN" sz="2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New quality productive forces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are </a:t>
                      </a:r>
                      <a:r>
                        <a:rPr lang="en-US" altLang="zh-CN" sz="2400" u="sng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integral 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 </a:t>
                      </a:r>
                      <a:r>
                        <a:rPr lang="en-US" altLang="zh-CN" sz="24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high-quality development</a:t>
                      </a:r>
                      <a:r>
                        <a:rPr lang="en-US" altLang="zh-CN" sz="2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坚持</a:t>
                      </a: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创新驱动发展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to pursue 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innovation-driven development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240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做</a:t>
                      </a:r>
                      <a:r>
                        <a:rPr lang="zh-CN" altLang="en-US" sz="2400" b="0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强</a:t>
                      </a:r>
                      <a:r>
                        <a:rPr lang="zh-CN" altLang="en-US" sz="2400" b="1" i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国内大循环</a:t>
                      </a:r>
                      <a:endParaRPr lang="en-US" altLang="zh-CN" sz="2400" b="1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88000" marR="0" lvl="0" indent="-28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- strengthening the domestic economy</a:t>
                      </a:r>
                    </a:p>
                    <a:p>
                      <a:pPr marL="288000" marR="0" lvl="0" indent="-2880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持续</a:t>
                      </a: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扩⼤内需</a:t>
                      </a:r>
                      <a:r>
                        <a:rPr kumimoji="0" lang="zh-CN" alt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、优化供给</a:t>
                      </a:r>
                      <a:endPara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288000" marR="0" lvl="0" indent="-45720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to 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boost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expand domestic demand</a:t>
                      </a:r>
                      <a:r>
                        <a:rPr kumimoji="0" lang="en-US" altLang="zh-C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and improve supply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06530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D09F156-8801-4A60-A6A9-B8FC60EE7859}"/>
              </a:ext>
            </a:extLst>
          </p:cNvPr>
          <p:cNvSpPr txBox="1">
            <a:spLocks/>
          </p:cNvSpPr>
          <p:nvPr/>
        </p:nvSpPr>
        <p:spPr>
          <a:xfrm>
            <a:off x="0" y="141481"/>
            <a:ext cx="5019261" cy="5441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kern="1200" baseline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ndara" panose="020E0502030303020204" pitchFamily="34" charset="0"/>
                <a:ea typeface="+mj-ea"/>
                <a:cs typeface="+mj-cs"/>
              </a:rPr>
              <a:t>China’s economy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ndara" panose="020E0502030303020204" pitchFamily="34" charset="0"/>
              <a:ea typeface="+mj-ea"/>
              <a:cs typeface="+mj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8E0BC6-4C50-4B0B-A51A-B328F052E8AC}"/>
              </a:ext>
            </a:extLst>
          </p:cNvPr>
          <p:cNvSpPr/>
          <p:nvPr/>
        </p:nvSpPr>
        <p:spPr>
          <a:xfrm>
            <a:off x="1976015" y="739290"/>
            <a:ext cx="7177135" cy="4404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推进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全国统⼀⼤市场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建设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8000" marR="0" lvl="0" indent="-288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- to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advance the development of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 unified national market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把发展经济的着力点放在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实体经济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上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to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stay focused on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the real economy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打造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智能经济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新形态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- to create new forms of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smart economy</a:t>
            </a:r>
          </a:p>
          <a:p>
            <a:pPr marL="288000" marR="0" lvl="0" indent="-2880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进⼀步扩⼤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⾼⽔平对外开放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扩⼤自主开放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288000" marR="0" lvl="0" indent="-45720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 - expanding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high-standard opening up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/ to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open wider to the outside world</a:t>
            </a:r>
          </a:p>
        </p:txBody>
      </p:sp>
    </p:spTree>
    <p:extLst>
      <p:ext uri="{BB962C8B-B14F-4D97-AF65-F5344CB8AC3E}">
        <p14:creationId xmlns:p14="http://schemas.microsoft.com/office/powerpoint/2010/main" val="93521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Office PowerPoint</Application>
  <PresentationFormat>全屏显示(16:9)</PresentationFormat>
  <Paragraphs>161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宋体</vt:lpstr>
      <vt:lpstr>微软雅黑</vt:lpstr>
      <vt:lpstr>Arial</vt:lpstr>
      <vt:lpstr>Calibri</vt:lpstr>
      <vt:lpstr>Candara</vt:lpstr>
      <vt:lpstr>Office Theme</vt:lpstr>
      <vt:lpstr>1_Office Theme</vt:lpstr>
      <vt:lpstr>PowerPoint 演示文稿</vt:lpstr>
      <vt:lpstr>15th Five-Year Plan</vt:lpstr>
      <vt:lpstr>China’s economy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15th Five-Year Plan</vt:lpstr>
      <vt:lpstr>PowerPoint 演示文稿</vt:lpstr>
      <vt:lpstr>PowerPoint 演示文稿</vt:lpstr>
      <vt:lpstr>15th Five-Year Plan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2026-04-19T03:41:31Z</dcterms:modified>
</cp:coreProperties>
</file>